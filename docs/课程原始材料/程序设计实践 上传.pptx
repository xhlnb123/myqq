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824" r:id="rId3"/>
    <p:sldId id="475" r:id="rId4"/>
    <p:sldId id="825" r:id="rId5"/>
    <p:sldId id="826" r:id="rId6"/>
    <p:sldId id="586" r:id="rId7"/>
    <p:sldId id="581" r:id="rId8"/>
    <p:sldId id="827" r:id="rId9"/>
    <p:sldId id="587" r:id="rId10"/>
    <p:sldId id="532" r:id="rId11"/>
    <p:sldId id="557" r:id="rId12"/>
    <p:sldId id="558" r:id="rId13"/>
    <p:sldId id="560" r:id="rId14"/>
    <p:sldId id="561" r:id="rId15"/>
    <p:sldId id="562" r:id="rId16"/>
    <p:sldId id="563" r:id="rId17"/>
    <p:sldId id="564" r:id="rId18"/>
    <p:sldId id="565" r:id="rId19"/>
    <p:sldId id="567" r:id="rId20"/>
    <p:sldId id="570" r:id="rId21"/>
    <p:sldId id="573" r:id="rId22"/>
    <p:sldId id="533" r:id="rId23"/>
    <p:sldId id="534" r:id="rId24"/>
    <p:sldId id="535" r:id="rId25"/>
    <p:sldId id="536" r:id="rId26"/>
    <p:sldId id="537" r:id="rId27"/>
    <p:sldId id="830" r:id="rId28"/>
    <p:sldId id="831" r:id="rId29"/>
    <p:sldId id="579" r:id="rId30"/>
    <p:sldId id="452" r:id="rId31"/>
    <p:sldId id="469" r:id="rId32"/>
    <p:sldId id="539" r:id="rId33"/>
    <p:sldId id="540" r:id="rId34"/>
    <p:sldId id="541" r:id="rId35"/>
    <p:sldId id="542" r:id="rId36"/>
    <p:sldId id="543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2000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u" initials="xhzao" lastIdx="5" clrIdx="0"/>
  <p:cmAuthor id="2" name="sony" initials="s" lastIdx="1" clrIdx="1">
    <p:extLst>
      <p:ext uri="{19B8F6BF-5375-455C-9EA6-DF929625EA0E}">
        <p15:presenceInfo xmlns:p15="http://schemas.microsoft.com/office/powerpoint/2012/main" userId="son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6600"/>
    <a:srgbClr val="9933FF"/>
    <a:srgbClr val="FFCC66"/>
    <a:srgbClr val="FF9933"/>
    <a:srgbClr val="0033CC"/>
    <a:srgbClr val="CC3300"/>
    <a:srgbClr val="00808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77" autoAdjust="0"/>
  </p:normalViewPr>
  <p:slideViewPr>
    <p:cSldViewPr>
      <p:cViewPr varScale="1">
        <p:scale>
          <a:sx n="129" d="100"/>
          <a:sy n="129" d="100"/>
        </p:scale>
        <p:origin x="272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200">
                <a:latin typeface="Arial" panose="020B0604020202020204" pitchFamily="34" charset="0"/>
              </a:defRPr>
            </a:lvl1pPr>
          </a:lstStyle>
          <a:p>
            <a:fld id="{324211BD-44AF-4F73-AE65-AE598E8402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00746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D97CA4-4EA6-4AFE-BEA9-778717D555A7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273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ED3C09-51C5-416E-A447-26D26C1AF69D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29663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ED3C09-51C5-416E-A447-26D26C1AF69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43037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ED3C09-51C5-416E-A447-26D26C1AF69D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30616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3AAF4B-E372-4725-BA2E-6863485C2DA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90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40277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D97CA4-4EA6-4AFE-BEA9-778717D555A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273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D97CA4-4EA6-4AFE-BEA9-778717D555A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0035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815779-D4F7-4FAF-863F-D61410C66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EAFDE19-A3C5-4978-8069-6ACFC169A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简单介绍阶段项目的内容，形式</a:t>
            </a:r>
          </a:p>
        </p:txBody>
      </p:sp>
    </p:spTree>
    <p:extLst>
      <p:ext uri="{BB962C8B-B14F-4D97-AF65-F5344CB8AC3E}">
        <p14:creationId xmlns:p14="http://schemas.microsoft.com/office/powerpoint/2010/main" val="2997311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206DB9F-6BD7-4B60-BA53-6CA67ED2B2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FFC1E7F-BC1F-450B-A01F-611FE0ACF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在项目开始前，先向学员介绍软件开发流程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dirty="0"/>
              <a:t>分布式应用</a:t>
            </a:r>
            <a:r>
              <a:rPr lang="en-US" altLang="zh-CN" dirty="0"/>
              <a:t>: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应用程序分布在不同计算机上，通过网络来共同完成一项任务。通常为服务器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客户端模式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11BD-44AF-4F73-AE65-AE598E840245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93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1BB0623-E973-44F0-B84F-9E1B66FF0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B23A80C-6B18-4159-9265-80E92A009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介绍瀑布模型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BA42B3A-7B51-4983-A1D3-43D8DA9CF1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0588" y="733425"/>
            <a:ext cx="4887912" cy="3665538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FEA5885B-7C48-4250-8967-7404EED55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6750" y="4643438"/>
            <a:ext cx="5335588" cy="4397375"/>
          </a:xfrm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CD48F3C-CBBE-4AC7-AC47-FFBF8F07D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7602D7B-EC20-4F16-A865-9325BB6C3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以此图说明需求文档的必要性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CACB371-24D5-4E49-ABAB-930C903A72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1BBD657-9CF9-4040-9859-87DDE073E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在了解了软件开发流程后，向学员介绍阶段项目的需求，并演示效果。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71E5614-27C0-4B21-BE31-7B19C5FA9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4BE66A4-81EE-44A8-9ABF-F7522A485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根据前面的需求，分析出需要哪些数据表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D5BC8EF-0E84-4FDA-AD42-CC7F0C5A7D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3FD1943-379C-4BC6-AB7C-F5B8B25EC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分析需要完成的主要功能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EFDC0D4-7565-4170-8596-D09B2332BB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AA7AEC0-8AB5-4962-8AAA-9BF701D26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分析需要的界面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9BE9388-AB79-44E3-8129-C99AA9F495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6BBF40A-E7B6-410C-A57B-8DAE746F5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向学员介绍小组分功，每位组员的基本任务分配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33F82AE-339A-4703-8A8D-BC98F11C7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BEB29EB-0E0A-4242-83B4-3ED3305D4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阶段划分，是指学员动手的各个阶段。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2BD3B4B-1EE8-4449-A19A-D4294781C7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7215871-02F7-4A7D-A691-6EB618169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项目准备阶段开始前，讲解小组各个成员的任务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DFF9CCA-0FC6-43D6-8D17-5FF8B09101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B9177F0-55BE-4EAE-AB53-B35369FA9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第一次集中编码前，讲解小组各个成员的任务，并进行难点分析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94B40-12FF-4A80-8526-9739FD3144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5FB58-9F1A-44FB-8648-AD9FA5A791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542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8A0DF3-61F9-4DB9-BA89-80D97163D9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49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38EA8-9952-425C-B456-4756FCC1AF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009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38DBE-42E5-4B79-8D13-2D9EBBC76D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098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A3E2C3-5C64-45C5-B374-29FA017B2C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07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E76195-717F-4C69-BA68-2ACAD1DACF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7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72CDA5-EC2A-400F-84C1-1B243A046C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521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9D562-7822-4B8F-9C0E-7E17EB7210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9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14A0E4-FF04-43A3-85A4-8732483CBE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1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2DE995-A1BB-4C09-B871-57CE81FC2A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2273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CCFA9EF-3882-48AE-AEDB-9FD724EF0C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051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64673F-60AE-4BE3-84EC-7737C2189A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973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9DA7434-847E-47DD-9B91-2D154B35C7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3335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934200" y="63246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8F150B1-E20E-4AA0-AD85-D0E52F742E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6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kumimoji="0" sz="1400">
                <a:latin typeface="+mn-lt"/>
              </a:defRPr>
            </a:lvl1pPr>
          </a:lstStyle>
          <a:p>
            <a:r>
              <a:rPr lang="en-US" altLang="zh-CN"/>
              <a:t>C++概述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400">
                <a:latin typeface="+mn-lt"/>
              </a:defRPr>
            </a:lvl1pPr>
          </a:lstStyle>
          <a:p>
            <a:fld id="{0232DDAA-9089-41A6-A034-89EFF3022EC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gxx@whu.edu.c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4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6.jpeg"/><Relationship Id="rId10" Type="http://schemas.openxmlformats.org/officeDocument/2006/relationships/image" Target="../media/image19.jpeg"/><Relationship Id="rId4" Type="http://schemas.openxmlformats.org/officeDocument/2006/relationships/image" Target="../media/image5.jpeg"/><Relationship Id="rId9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5614D-7183-450B-B380-4CCB68682258}" type="slidenum">
              <a:rPr lang="en-US" altLang="zh-CN" smtClean="0"/>
              <a:pPr/>
              <a:t>1</a:t>
            </a:fld>
            <a:endParaRPr lang="en-US" altLang="zh-CN"/>
          </a:p>
        </p:txBody>
      </p:sp>
      <p:pic>
        <p:nvPicPr>
          <p:cNvPr id="6146" name="Picture 2" descr="PhotoshopCS2"/>
          <p:cNvPicPr>
            <a:picLocks noChangeAspect="1" noChangeArrowheads="1"/>
          </p:cNvPicPr>
          <p:nvPr/>
        </p:nvPicPr>
        <p:blipFill>
          <a:blip r:embed="rId2">
            <a:lum contrast="-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800600"/>
            <a:ext cx="2057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648200"/>
            <a:ext cx="6400800" cy="1371600"/>
          </a:xfrm>
        </p:spPr>
        <p:txBody>
          <a:bodyPr/>
          <a:lstStyle/>
          <a:p>
            <a:r>
              <a:rPr lang="zh-CN" altLang="en-US" sz="3600" dirty="0">
                <a:latin typeface="华文楷体" panose="02010600040101010101" pitchFamily="2" charset="-122"/>
              </a:rPr>
              <a:t>电子信息学院</a:t>
            </a:r>
            <a:endParaRPr lang="en-US" altLang="zh-CN" sz="3600" dirty="0">
              <a:latin typeface="华文楷体" panose="02010600040101010101" pitchFamily="2" charset="-122"/>
            </a:endParaRPr>
          </a:p>
          <a:p>
            <a:r>
              <a:rPr lang="zh-CN" altLang="en-US" sz="3600" dirty="0">
                <a:latin typeface="华文楷体" panose="02010600040101010101" pitchFamily="2" charset="-122"/>
              </a:rPr>
              <a:t>武汉大学</a:t>
            </a:r>
            <a:endParaRPr lang="en-US" altLang="zh-CN" sz="3600" dirty="0">
              <a:latin typeface="华文楷体" panose="02010600040101010101" pitchFamily="2" charset="-122"/>
            </a:endParaRPr>
          </a:p>
          <a:p>
            <a:endParaRPr lang="zh-CN" altLang="en-US" sz="3600" dirty="0">
              <a:latin typeface="华文楷体" panose="02010600040101010101" pitchFamily="2" charset="-122"/>
            </a:endParaRP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2133600" y="1066800"/>
            <a:ext cx="4953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0" lang="zh-CN" altLang="en-US" sz="4000" b="1" dirty="0">
                <a:latin typeface="Arial" panose="020B0604020202020204" pitchFamily="34" charset="0"/>
                <a:ea typeface="华文楷体" panose="02010600040101010101" pitchFamily="2" charset="-122"/>
              </a:rPr>
              <a:t>程序设计实践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838200" y="1973263"/>
            <a:ext cx="7558088" cy="71437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50000">
                <a:schemeClr val="tx1">
                  <a:alpha val="87000"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1916113" y="1905000"/>
            <a:ext cx="5399087" cy="57150"/>
          </a:xfrm>
          <a:prstGeom prst="rect">
            <a:avLst/>
          </a:prstGeom>
          <a:gradFill rotWithShape="1">
            <a:gsLst>
              <a:gs pos="0">
                <a:srgbClr val="000F1E"/>
              </a:gs>
              <a:gs pos="50000">
                <a:srgbClr val="336699"/>
              </a:gs>
              <a:gs pos="100000">
                <a:srgbClr val="000F1E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6E1F054-AD11-490B-AE43-A8B492AFCC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D852-0E4C-481D-A94F-18A7BA8C2E77}" type="slidenum">
              <a:rPr lang="en-US" altLang="zh-CN"/>
              <a:pPr/>
              <a:t>2</a:t>
            </a:fld>
            <a:endParaRPr lang="en-US" altLang="zh-CN"/>
          </a:p>
        </p:txBody>
      </p:sp>
      <p:pic>
        <p:nvPicPr>
          <p:cNvPr id="481282" name="Picture 2" descr="PhotoshopC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283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427038"/>
            <a:ext cx="5867400" cy="1020762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</a:rPr>
              <a:t>联系方式与交流方式</a:t>
            </a:r>
          </a:p>
        </p:txBody>
      </p:sp>
      <p:sp>
        <p:nvSpPr>
          <p:cNvPr id="4812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305800" cy="4876800"/>
          </a:xfrm>
        </p:spPr>
        <p:txBody>
          <a:bodyPr/>
          <a:lstStyle/>
          <a:p>
            <a:pPr>
              <a:spcBef>
                <a:spcPct val="55000"/>
              </a:spcBef>
              <a:buFontTx/>
              <a:buNone/>
            </a:pPr>
            <a:r>
              <a:rPr lang="zh-CN" altLang="en-US" sz="4400" dirty="0"/>
              <a:t>耿学贤 ：</a:t>
            </a:r>
            <a:r>
              <a:rPr lang="en-US" altLang="zh-CN" sz="4400" dirty="0"/>
              <a:t>18971605955</a:t>
            </a:r>
          </a:p>
          <a:p>
            <a:pPr>
              <a:spcBef>
                <a:spcPct val="55000"/>
              </a:spcBef>
              <a:buFontTx/>
              <a:buNone/>
            </a:pPr>
            <a:r>
              <a:rPr lang="zh-CN" altLang="en-US" dirty="0"/>
              <a:t>邮箱：</a:t>
            </a:r>
            <a:r>
              <a:rPr lang="en-US" altLang="zh-CN" dirty="0">
                <a:hlinkClick r:id="rId4"/>
              </a:rPr>
              <a:t>gxx@whu.edu.cn</a:t>
            </a:r>
            <a:endParaRPr lang="en-US" altLang="zh-CN" dirty="0"/>
          </a:p>
          <a:p>
            <a:pPr>
              <a:spcBef>
                <a:spcPct val="55000"/>
              </a:spcBef>
              <a:buFontTx/>
              <a:buNone/>
            </a:pPr>
            <a:r>
              <a:rPr lang="en-US" altLang="zh-CN" dirty="0"/>
              <a:t>QQ</a:t>
            </a:r>
            <a:r>
              <a:rPr lang="zh-CN" altLang="en-US" dirty="0"/>
              <a:t>群：</a:t>
            </a:r>
            <a:r>
              <a:rPr lang="en-US" altLang="zh-CN" dirty="0"/>
              <a:t>943509982</a:t>
            </a:r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990600" y="1460500"/>
            <a:ext cx="7558088" cy="139700"/>
            <a:chOff x="624" y="1200"/>
            <a:chExt cx="4761" cy="8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624" y="1243"/>
              <a:ext cx="4761" cy="4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tx1">
                    <a:alpha val="87000"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1303" y="1200"/>
              <a:ext cx="3401" cy="36"/>
            </a:xfrm>
            <a:prstGeom prst="rect">
              <a:avLst/>
            </a:prstGeom>
            <a:gradFill rotWithShape="1">
              <a:gsLst>
                <a:gs pos="0">
                  <a:srgbClr val="000F1E"/>
                </a:gs>
                <a:gs pos="50000">
                  <a:srgbClr val="336699"/>
                </a:gs>
                <a:gs pos="100000">
                  <a:srgbClr val="000F1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E375E2C-446B-4EDF-9B35-30A32B90940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16" r="614" b="24052"/>
          <a:stretch/>
        </p:blipFill>
        <p:spPr>
          <a:xfrm>
            <a:off x="5867400" y="3667124"/>
            <a:ext cx="2784232" cy="2895601"/>
          </a:xfrm>
          <a:prstGeom prst="rect">
            <a:avLst/>
          </a:prstGeom>
        </p:spPr>
      </p:pic>
    </p:spTree>
  </p:cSld>
  <p:clrMapOvr>
    <a:masterClrMapping/>
  </p:clrMapOvr>
  <p:transition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96F7-A835-44CB-AC8D-EB4C58B842B9}" type="slidenum">
              <a:rPr lang="en-US" altLang="zh-CN"/>
              <a:pPr/>
              <a:t>3</a:t>
            </a:fld>
            <a:endParaRPr lang="en-US" altLang="zh-CN"/>
          </a:p>
        </p:txBody>
      </p:sp>
      <p:pic>
        <p:nvPicPr>
          <p:cNvPr id="335874" name="Picture 2" descr="PhotoshopCS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87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396875"/>
            <a:ext cx="6781800" cy="1020763"/>
          </a:xfrm>
        </p:spPr>
        <p:txBody>
          <a:bodyPr/>
          <a:lstStyle/>
          <a:p>
            <a:r>
              <a:rPr lang="en-US" altLang="zh-CN" sz="4800" b="1" dirty="0"/>
              <a:t>1</a:t>
            </a:r>
            <a:r>
              <a:rPr lang="zh-CN" altLang="en-US" sz="4800" b="1" dirty="0"/>
              <a:t>、</a:t>
            </a:r>
            <a:r>
              <a:rPr lang="zh-CN" altLang="zh-CN" b="1" dirty="0"/>
              <a:t>课程性质与教学目的</a:t>
            </a:r>
            <a:endParaRPr lang="zh-CN" altLang="en-US" sz="4800" b="1" dirty="0"/>
          </a:p>
        </p:txBody>
      </p:sp>
      <p:sp>
        <p:nvSpPr>
          <p:cNvPr id="3358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091488" cy="4038600"/>
          </a:xfrm>
        </p:spPr>
        <p:txBody>
          <a:bodyPr/>
          <a:lstStyle/>
          <a:p>
            <a:pPr algn="just">
              <a:lnSpc>
                <a:spcPct val="140000"/>
              </a:lnSpc>
              <a:buClr>
                <a:srgbClr val="990033"/>
              </a:buClr>
              <a:buSzPct val="110000"/>
              <a:buFont typeface="Wingdings" panose="05000000000000000000" pitchFamily="2" charset="2"/>
              <a:buChar char="¯"/>
            </a:pPr>
            <a:r>
              <a:rPr lang="zh-CN" altLang="zh-CN" sz="3200" dirty="0"/>
              <a:t>非计算机软件专业的本科生提供面向实用、工程化和采用高级语言的软件设计和开发训练，使学生更加熟练掌握面向对象程序设计的方法，以及先进的软件开发技术</a:t>
            </a:r>
            <a:endParaRPr lang="en-US" altLang="zh-CN" sz="3200" dirty="0"/>
          </a:p>
          <a:p>
            <a:pPr algn="just">
              <a:lnSpc>
                <a:spcPct val="140000"/>
              </a:lnSpc>
              <a:buClr>
                <a:srgbClr val="990033"/>
              </a:buClr>
              <a:buSzPct val="110000"/>
              <a:buFont typeface="Wingdings" panose="05000000000000000000" pitchFamily="2" charset="2"/>
              <a:buChar char="¯"/>
            </a:pPr>
            <a:r>
              <a:rPr lang="zh-CN" altLang="zh-CN" sz="3200" dirty="0"/>
              <a:t>给学生进行某个专业知识方面的启蒙</a:t>
            </a:r>
            <a:endParaRPr lang="zh-CN" altLang="en-US" sz="3200" b="1" dirty="0"/>
          </a:p>
        </p:txBody>
      </p:sp>
      <p:grpSp>
        <p:nvGrpSpPr>
          <p:cNvPr id="335877" name="Group 5"/>
          <p:cNvGrpSpPr>
            <a:grpSpLocks/>
          </p:cNvGrpSpPr>
          <p:nvPr/>
        </p:nvGrpSpPr>
        <p:grpSpPr bwMode="auto">
          <a:xfrm>
            <a:off x="990600" y="1460500"/>
            <a:ext cx="7558088" cy="139700"/>
            <a:chOff x="624" y="1200"/>
            <a:chExt cx="4761" cy="88"/>
          </a:xfrm>
        </p:grpSpPr>
        <p:sp>
          <p:nvSpPr>
            <p:cNvPr id="335878" name="Rectangle 6"/>
            <p:cNvSpPr>
              <a:spLocks noChangeArrowheads="1"/>
            </p:cNvSpPr>
            <p:nvPr/>
          </p:nvSpPr>
          <p:spPr bwMode="auto">
            <a:xfrm>
              <a:off x="624" y="1243"/>
              <a:ext cx="4761" cy="4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tx1">
                    <a:alpha val="87000"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879" name="Rectangle 7"/>
            <p:cNvSpPr>
              <a:spLocks noChangeArrowheads="1"/>
            </p:cNvSpPr>
            <p:nvPr/>
          </p:nvSpPr>
          <p:spPr bwMode="auto">
            <a:xfrm>
              <a:off x="1303" y="1200"/>
              <a:ext cx="3401" cy="36"/>
            </a:xfrm>
            <a:prstGeom prst="rect">
              <a:avLst/>
            </a:prstGeom>
            <a:gradFill rotWithShape="1">
              <a:gsLst>
                <a:gs pos="0">
                  <a:srgbClr val="000F1E"/>
                </a:gs>
                <a:gs pos="50000">
                  <a:srgbClr val="336699"/>
                </a:gs>
                <a:gs pos="100000">
                  <a:srgbClr val="000F1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35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35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96F7-A835-44CB-AC8D-EB4C58B842B9}" type="slidenum">
              <a:rPr lang="en-US" altLang="zh-CN"/>
              <a:pPr/>
              <a:t>4</a:t>
            </a:fld>
            <a:endParaRPr lang="en-US" altLang="zh-CN"/>
          </a:p>
        </p:txBody>
      </p:sp>
      <p:pic>
        <p:nvPicPr>
          <p:cNvPr id="335874" name="Picture 2" descr="PhotoshopCS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87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396875"/>
            <a:ext cx="6781800" cy="1020763"/>
          </a:xfrm>
        </p:spPr>
        <p:txBody>
          <a:bodyPr/>
          <a:lstStyle/>
          <a:p>
            <a:r>
              <a:rPr lang="en-US" altLang="zh-CN" sz="4800" b="1" dirty="0"/>
              <a:t>2</a:t>
            </a:r>
            <a:r>
              <a:rPr lang="zh-CN" altLang="en-US" sz="4800" b="1" dirty="0"/>
              <a:t>、</a:t>
            </a:r>
            <a:r>
              <a:rPr lang="zh-CN" altLang="zh-CN" b="1" dirty="0"/>
              <a:t>课程教学目标</a:t>
            </a:r>
            <a:endParaRPr lang="zh-CN" altLang="en-US" sz="4800" b="1" dirty="0"/>
          </a:p>
        </p:txBody>
      </p:sp>
      <p:sp>
        <p:nvSpPr>
          <p:cNvPr id="3358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81199"/>
            <a:ext cx="8091488" cy="4260849"/>
          </a:xfrm>
        </p:spPr>
        <p:txBody>
          <a:bodyPr/>
          <a:lstStyle/>
          <a:p>
            <a:pPr algn="just">
              <a:lnSpc>
                <a:spcPct val="140000"/>
              </a:lnSpc>
              <a:buClr>
                <a:srgbClr val="990033"/>
              </a:buClr>
              <a:buSzPct val="110000"/>
              <a:buFont typeface="Wingdings" panose="05000000000000000000" pitchFamily="2" charset="2"/>
              <a:buChar char="¯"/>
            </a:pPr>
            <a:r>
              <a:rPr lang="zh-CN" altLang="zh-CN" dirty="0"/>
              <a:t>熟练使用一种面向对象程序设计语言，能将其用于软件课题的实现</a:t>
            </a:r>
            <a:endParaRPr lang="en-US" altLang="zh-CN" dirty="0"/>
          </a:p>
          <a:p>
            <a:pPr algn="just">
              <a:lnSpc>
                <a:spcPct val="140000"/>
              </a:lnSpc>
              <a:buClr>
                <a:srgbClr val="990033"/>
              </a:buClr>
              <a:buSzPct val="110000"/>
              <a:buFont typeface="Wingdings" panose="05000000000000000000" pitchFamily="2" charset="2"/>
              <a:buChar char="¯"/>
            </a:pPr>
            <a:r>
              <a:rPr lang="zh-CN" altLang="zh-CN" dirty="0"/>
              <a:t>理解面向对象编程方法</a:t>
            </a:r>
            <a:endParaRPr lang="en-US" altLang="zh-CN" dirty="0"/>
          </a:p>
          <a:p>
            <a:pPr algn="just">
              <a:lnSpc>
                <a:spcPct val="140000"/>
              </a:lnSpc>
              <a:buClr>
                <a:srgbClr val="990033"/>
              </a:buClr>
              <a:buSzPct val="110000"/>
              <a:buFont typeface="Wingdings" panose="05000000000000000000" pitchFamily="2" charset="2"/>
              <a:buChar char="¯"/>
            </a:pPr>
            <a:r>
              <a:rPr lang="zh-CN" altLang="zh-CN" dirty="0"/>
              <a:t>了解应用软件开发的开发过程</a:t>
            </a:r>
            <a:endParaRPr lang="en-US" altLang="zh-CN" dirty="0"/>
          </a:p>
          <a:p>
            <a:pPr algn="just">
              <a:lnSpc>
                <a:spcPct val="140000"/>
              </a:lnSpc>
              <a:buClr>
                <a:srgbClr val="990033"/>
              </a:buClr>
              <a:buSzPct val="110000"/>
              <a:buFont typeface="Wingdings" panose="05000000000000000000" pitchFamily="2" charset="2"/>
              <a:buChar char="¯"/>
            </a:pPr>
            <a:r>
              <a:rPr lang="zh-CN" altLang="zh-CN" dirty="0"/>
              <a:t>掌握软件设计的思想与方法</a:t>
            </a:r>
            <a:endParaRPr lang="zh-CN" altLang="en-US" sz="3200" b="1" dirty="0"/>
          </a:p>
        </p:txBody>
      </p:sp>
      <p:grpSp>
        <p:nvGrpSpPr>
          <p:cNvPr id="335877" name="Group 5"/>
          <p:cNvGrpSpPr>
            <a:grpSpLocks/>
          </p:cNvGrpSpPr>
          <p:nvPr/>
        </p:nvGrpSpPr>
        <p:grpSpPr bwMode="auto">
          <a:xfrm>
            <a:off x="990600" y="1460500"/>
            <a:ext cx="7558088" cy="139700"/>
            <a:chOff x="624" y="1200"/>
            <a:chExt cx="4761" cy="88"/>
          </a:xfrm>
        </p:grpSpPr>
        <p:sp>
          <p:nvSpPr>
            <p:cNvPr id="335878" name="Rectangle 6"/>
            <p:cNvSpPr>
              <a:spLocks noChangeArrowheads="1"/>
            </p:cNvSpPr>
            <p:nvPr/>
          </p:nvSpPr>
          <p:spPr bwMode="auto">
            <a:xfrm>
              <a:off x="624" y="1243"/>
              <a:ext cx="4761" cy="4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tx1">
                    <a:alpha val="87000"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879" name="Rectangle 7"/>
            <p:cNvSpPr>
              <a:spLocks noChangeArrowheads="1"/>
            </p:cNvSpPr>
            <p:nvPr/>
          </p:nvSpPr>
          <p:spPr bwMode="auto">
            <a:xfrm>
              <a:off x="1303" y="1200"/>
              <a:ext cx="3401" cy="36"/>
            </a:xfrm>
            <a:prstGeom prst="rect">
              <a:avLst/>
            </a:prstGeom>
            <a:gradFill rotWithShape="1">
              <a:gsLst>
                <a:gs pos="0">
                  <a:srgbClr val="000F1E"/>
                </a:gs>
                <a:gs pos="50000">
                  <a:srgbClr val="336699"/>
                </a:gs>
                <a:gs pos="100000">
                  <a:srgbClr val="000F1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28351346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35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096F7-A835-44CB-AC8D-EB4C58B842B9}" type="slidenum">
              <a:rPr lang="en-US" altLang="zh-CN"/>
              <a:pPr/>
              <a:t>5</a:t>
            </a:fld>
            <a:endParaRPr lang="en-US" altLang="zh-CN"/>
          </a:p>
        </p:txBody>
      </p:sp>
      <p:pic>
        <p:nvPicPr>
          <p:cNvPr id="335874" name="Picture 2" descr="PhotoshopCS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587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396875"/>
            <a:ext cx="6781800" cy="1020763"/>
          </a:xfrm>
        </p:spPr>
        <p:txBody>
          <a:bodyPr/>
          <a:lstStyle/>
          <a:p>
            <a:r>
              <a:rPr lang="en-US" altLang="zh-CN" sz="4800" b="1" dirty="0"/>
              <a:t>3</a:t>
            </a:r>
            <a:r>
              <a:rPr lang="zh-CN" altLang="en-US" sz="4800" b="1" dirty="0"/>
              <a:t>、</a:t>
            </a:r>
            <a:r>
              <a:rPr lang="zh-CN" altLang="zh-CN" b="1" dirty="0"/>
              <a:t>课程内容与学时分配</a:t>
            </a:r>
            <a:endParaRPr lang="zh-CN" altLang="en-US" sz="4800" b="1" dirty="0"/>
          </a:p>
        </p:txBody>
      </p:sp>
      <p:grpSp>
        <p:nvGrpSpPr>
          <p:cNvPr id="335877" name="Group 5"/>
          <p:cNvGrpSpPr>
            <a:grpSpLocks/>
          </p:cNvGrpSpPr>
          <p:nvPr/>
        </p:nvGrpSpPr>
        <p:grpSpPr bwMode="auto">
          <a:xfrm>
            <a:off x="990600" y="1460500"/>
            <a:ext cx="7558088" cy="139700"/>
            <a:chOff x="624" y="1200"/>
            <a:chExt cx="4761" cy="88"/>
          </a:xfrm>
        </p:grpSpPr>
        <p:sp>
          <p:nvSpPr>
            <p:cNvPr id="335878" name="Rectangle 6"/>
            <p:cNvSpPr>
              <a:spLocks noChangeArrowheads="1"/>
            </p:cNvSpPr>
            <p:nvPr/>
          </p:nvSpPr>
          <p:spPr bwMode="auto">
            <a:xfrm>
              <a:off x="624" y="1243"/>
              <a:ext cx="4761" cy="4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tx1">
                    <a:alpha val="87000"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879" name="Rectangle 7"/>
            <p:cNvSpPr>
              <a:spLocks noChangeArrowheads="1"/>
            </p:cNvSpPr>
            <p:nvPr/>
          </p:nvSpPr>
          <p:spPr bwMode="auto">
            <a:xfrm>
              <a:off x="1303" y="1200"/>
              <a:ext cx="3401" cy="36"/>
            </a:xfrm>
            <a:prstGeom prst="rect">
              <a:avLst/>
            </a:prstGeom>
            <a:gradFill rotWithShape="1">
              <a:gsLst>
                <a:gs pos="0">
                  <a:srgbClr val="000F1E"/>
                </a:gs>
                <a:gs pos="50000">
                  <a:srgbClr val="336699"/>
                </a:gs>
                <a:gs pos="100000">
                  <a:srgbClr val="000F1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1" name="Group 644">
            <a:extLst>
              <a:ext uri="{FF2B5EF4-FFF2-40B4-BE49-F238E27FC236}">
                <a16:creationId xmlns:a16="http://schemas.microsoft.com/office/drawing/2014/main" id="{473887E4-4D09-4E30-9899-9CFB523C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82554"/>
              </p:ext>
            </p:extLst>
          </p:nvPr>
        </p:nvGraphicFramePr>
        <p:xfrm>
          <a:off x="683418" y="1680321"/>
          <a:ext cx="7777163" cy="4535488"/>
        </p:xfrm>
        <a:graphic>
          <a:graphicData uri="http://schemas.openxmlformats.org/drawingml/2006/table">
            <a:tbl>
              <a:tblPr/>
              <a:tblGrid>
                <a:gridCol w="2160588">
                  <a:extLst>
                    <a:ext uri="{9D8B030D-6E8A-4147-A177-3AD203B41FA5}">
                      <a16:colId xmlns:a16="http://schemas.microsoft.com/office/drawing/2014/main" val="640431633"/>
                    </a:ext>
                  </a:extLst>
                </a:gridCol>
                <a:gridCol w="3735387">
                  <a:extLst>
                    <a:ext uri="{9D8B030D-6E8A-4147-A177-3AD203B41FA5}">
                      <a16:colId xmlns:a16="http://schemas.microsoft.com/office/drawing/2014/main" val="2583611964"/>
                    </a:ext>
                  </a:extLst>
                </a:gridCol>
                <a:gridCol w="1881188">
                  <a:extLst>
                    <a:ext uri="{9D8B030D-6E8A-4147-A177-3AD203B41FA5}">
                      <a16:colId xmlns:a16="http://schemas.microsoft.com/office/drawing/2014/main" val="484154163"/>
                    </a:ext>
                  </a:extLst>
                </a:gridCol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描述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课时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586974"/>
                  </a:ext>
                </a:extLst>
              </a:tr>
              <a:tr h="3778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第一次课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项目讲解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296862"/>
                  </a:ext>
                </a:extLst>
              </a:tr>
              <a:tr h="3778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项目准备阶段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698775"/>
                  </a:ext>
                </a:extLst>
              </a:tr>
              <a:tr h="3778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第二次课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任务讲解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100754"/>
                  </a:ext>
                </a:extLst>
              </a:tr>
              <a:tr h="3778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第一次集中编码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486466"/>
                  </a:ext>
                </a:extLst>
              </a:tr>
              <a:tr h="37941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第三次课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任务讲解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329009"/>
                  </a:ext>
                </a:extLst>
              </a:tr>
              <a:tr h="3778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第二次集中编码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249203"/>
                  </a:ext>
                </a:extLst>
              </a:tr>
              <a:tr h="3778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第四次课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任务讲解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5519"/>
                  </a:ext>
                </a:extLst>
              </a:tr>
              <a:tr h="3778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第三次集中编码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634076"/>
                  </a:ext>
                </a:extLst>
              </a:tr>
              <a:tr h="37782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第五次课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任务讲解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461854"/>
                  </a:ext>
                </a:extLst>
              </a:tr>
              <a:tr h="3778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第四次集中编码、部分答辩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54308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第六次课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总结和答辩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6917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59867329"/>
      </p:ext>
    </p:extLst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654D1-2292-4701-AEAD-3FAD7DBC63A0}" type="slidenum">
              <a:rPr lang="en-US" altLang="zh-CN"/>
              <a:pPr/>
              <a:t>6</a:t>
            </a:fld>
            <a:endParaRPr lang="en-US" altLang="zh-CN"/>
          </a:p>
        </p:txBody>
      </p:sp>
      <p:pic>
        <p:nvPicPr>
          <p:cNvPr id="489474" name="Picture 2" descr="PhotoshopCS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9475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122238"/>
            <a:ext cx="5638800" cy="1020762"/>
          </a:xfrm>
        </p:spPr>
        <p:txBody>
          <a:bodyPr/>
          <a:lstStyle/>
          <a:p>
            <a:r>
              <a:rPr lang="zh-CN" altLang="en-US" b="1"/>
              <a:t>考核办法</a:t>
            </a:r>
          </a:p>
        </p:txBody>
      </p:sp>
      <p:pic>
        <p:nvPicPr>
          <p:cNvPr id="489482" name="Picture 10" descr="捕获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90600"/>
            <a:ext cx="6553200" cy="556895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9483" name="Text Box 11"/>
          <p:cNvSpPr txBox="1">
            <a:spLocks noChangeArrowheads="1"/>
          </p:cNvSpPr>
          <p:nvPr/>
        </p:nvSpPr>
        <p:spPr bwMode="auto">
          <a:xfrm>
            <a:off x="2514600" y="3623019"/>
            <a:ext cx="2237792" cy="117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dirty="0"/>
              <a:t>程序代码和</a:t>
            </a:r>
            <a:endParaRPr lang="en-US" altLang="zh-CN" dirty="0"/>
          </a:p>
          <a:p>
            <a:r>
              <a:rPr lang="zh-CN" altLang="en-US" dirty="0"/>
              <a:t>功能</a:t>
            </a:r>
            <a:r>
              <a:rPr lang="en-US" altLang="zh-CN" dirty="0"/>
              <a:t>65%</a:t>
            </a:r>
            <a:endParaRPr lang="zh-CN" altLang="en-US" dirty="0"/>
          </a:p>
        </p:txBody>
      </p:sp>
      <p:sp>
        <p:nvSpPr>
          <p:cNvPr id="489484" name="Text Box 12"/>
          <p:cNvSpPr txBox="1">
            <a:spLocks noChangeArrowheads="1"/>
          </p:cNvSpPr>
          <p:nvPr/>
        </p:nvSpPr>
        <p:spPr bwMode="auto">
          <a:xfrm>
            <a:off x="5106777" y="3640137"/>
            <a:ext cx="1827423" cy="117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dirty="0"/>
              <a:t>报告文档</a:t>
            </a:r>
            <a:endParaRPr lang="en-US" altLang="zh-CN" dirty="0"/>
          </a:p>
          <a:p>
            <a:r>
              <a:rPr lang="en-US" altLang="zh-CN" dirty="0"/>
              <a:t>15%</a:t>
            </a:r>
            <a:endParaRPr lang="zh-CN" altLang="en-US" dirty="0"/>
          </a:p>
        </p:txBody>
      </p:sp>
      <p:sp>
        <p:nvSpPr>
          <p:cNvPr id="489485" name="Text Box 13"/>
          <p:cNvSpPr txBox="1">
            <a:spLocks noChangeArrowheads="1"/>
          </p:cNvSpPr>
          <p:nvPr/>
        </p:nvSpPr>
        <p:spPr bwMode="auto">
          <a:xfrm>
            <a:off x="5334000" y="2147400"/>
            <a:ext cx="1006686" cy="117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考勤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10%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89486" name="Text Box 14"/>
          <p:cNvSpPr txBox="1">
            <a:spLocks noChangeArrowheads="1"/>
          </p:cNvSpPr>
          <p:nvPr/>
        </p:nvSpPr>
        <p:spPr bwMode="auto">
          <a:xfrm>
            <a:off x="4471126" y="1543848"/>
            <a:ext cx="1827423" cy="176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dirty="0"/>
              <a:t>平时进度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10%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D852-0E4C-481D-A94F-18A7BA8C2E77}" type="slidenum">
              <a:rPr lang="en-US" altLang="zh-CN"/>
              <a:pPr/>
              <a:t>7</a:t>
            </a:fld>
            <a:endParaRPr lang="en-US" altLang="zh-CN" dirty="0"/>
          </a:p>
        </p:txBody>
      </p:sp>
      <p:pic>
        <p:nvPicPr>
          <p:cNvPr id="481282" name="Picture 2" descr="PhotoshopC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283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427038"/>
            <a:ext cx="5867400" cy="1020762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</a:rPr>
              <a:t>课程成绩构成</a:t>
            </a:r>
          </a:p>
        </p:txBody>
      </p:sp>
      <p:sp>
        <p:nvSpPr>
          <p:cNvPr id="4812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98583" y="1395950"/>
            <a:ext cx="8305800" cy="4876800"/>
          </a:xfrm>
        </p:spPr>
        <p:txBody>
          <a:bodyPr/>
          <a:lstStyle/>
          <a:p>
            <a:r>
              <a:rPr lang="zh-CN" altLang="zh-CN" sz="2400" dirty="0"/>
              <a:t>总分数＝ </a:t>
            </a:r>
            <a:r>
              <a:rPr lang="en-US" altLang="zh-CN" sz="2400" dirty="0"/>
              <a:t>65</a:t>
            </a:r>
            <a:r>
              <a:rPr lang="zh-CN" altLang="zh-CN" sz="2400" dirty="0"/>
              <a:t>％（程序代码和功能）＋</a:t>
            </a:r>
            <a:r>
              <a:rPr lang="en-US" altLang="zh-CN" sz="2400" dirty="0"/>
              <a:t>10</a:t>
            </a:r>
            <a:r>
              <a:rPr lang="zh-CN" altLang="zh-CN" sz="2400" dirty="0"/>
              <a:t>％（上课出勤）</a:t>
            </a:r>
            <a:r>
              <a:rPr lang="en-US" altLang="zh-CN" sz="2400" dirty="0"/>
              <a:t>+ 10%(</a:t>
            </a:r>
            <a:r>
              <a:rPr lang="zh-CN" altLang="zh-CN" sz="2400" dirty="0"/>
              <a:t>平时进度</a:t>
            </a:r>
            <a:r>
              <a:rPr lang="en-US" altLang="zh-CN" sz="2400" dirty="0"/>
              <a:t>) + 15%</a:t>
            </a:r>
            <a:r>
              <a:rPr lang="zh-CN" altLang="zh-CN" sz="2400" dirty="0"/>
              <a:t>（报告文档）</a:t>
            </a:r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编写的程序：指题目所要求的内容。要检查功能是否完成和全面，代码是否规范，程序界面是否整洁美观，人机交互是否合理。</a:t>
            </a:r>
            <a:endParaRPr lang="en-US" altLang="zh-CN" sz="2400" dirty="0"/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上课出勤：指平时学生的迟到、早退和旷课情况。通过点名和检查上机登机表进行。</a:t>
            </a:r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平时进度：指学生是否完成每天指定的编程内容。</a:t>
            </a:r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报告文档：指学生是否按要求撰写设计报告，报告内容包括：封面、目录、设计内容要求、设计步骤和原理、算法流程图、软件使用说明、心得体会、课程问题与建议、参考文献。</a:t>
            </a:r>
            <a:endParaRPr lang="en-US" altLang="zh-CN" sz="2400" dirty="0"/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990600" y="1219200"/>
            <a:ext cx="7558088" cy="139700"/>
            <a:chOff x="624" y="1200"/>
            <a:chExt cx="4761" cy="8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624" y="1243"/>
              <a:ext cx="4761" cy="4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tx1">
                    <a:alpha val="87000"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1303" y="1200"/>
              <a:ext cx="3401" cy="36"/>
            </a:xfrm>
            <a:prstGeom prst="rect">
              <a:avLst/>
            </a:prstGeom>
            <a:gradFill rotWithShape="1">
              <a:gsLst>
                <a:gs pos="0">
                  <a:srgbClr val="000F1E"/>
                </a:gs>
                <a:gs pos="50000">
                  <a:srgbClr val="336699"/>
                </a:gs>
                <a:gs pos="100000">
                  <a:srgbClr val="000F1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D852-0E4C-481D-A94F-18A7BA8C2E77}" type="slidenum">
              <a:rPr lang="en-US" altLang="zh-CN"/>
              <a:pPr/>
              <a:t>8</a:t>
            </a:fld>
            <a:endParaRPr lang="en-US" altLang="zh-CN" dirty="0"/>
          </a:p>
        </p:txBody>
      </p:sp>
      <p:pic>
        <p:nvPicPr>
          <p:cNvPr id="481282" name="Picture 2" descr="PhotoshopCS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283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427038"/>
            <a:ext cx="5867400" cy="1020762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</a:rPr>
              <a:t>课程成绩构成</a:t>
            </a:r>
          </a:p>
        </p:txBody>
      </p:sp>
      <p:sp>
        <p:nvSpPr>
          <p:cNvPr id="4812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98583" y="1395950"/>
            <a:ext cx="8305800" cy="4876800"/>
          </a:xfrm>
        </p:spPr>
        <p:txBody>
          <a:bodyPr/>
          <a:lstStyle/>
          <a:p>
            <a:r>
              <a:rPr lang="zh-CN" altLang="zh-CN" sz="2400" dirty="0"/>
              <a:t>总分数＝ </a:t>
            </a:r>
            <a:r>
              <a:rPr lang="en-US" altLang="zh-CN" sz="2400" dirty="0"/>
              <a:t>65</a:t>
            </a:r>
            <a:r>
              <a:rPr lang="zh-CN" altLang="zh-CN" sz="2400" dirty="0"/>
              <a:t>％（程序代码和功能）＋</a:t>
            </a:r>
            <a:r>
              <a:rPr lang="en-US" altLang="zh-CN" sz="2400" dirty="0"/>
              <a:t>10</a:t>
            </a:r>
            <a:r>
              <a:rPr lang="zh-CN" altLang="zh-CN" sz="2400" dirty="0"/>
              <a:t>％（上课出勤）</a:t>
            </a:r>
            <a:r>
              <a:rPr lang="en-US" altLang="zh-CN" sz="2400" dirty="0"/>
              <a:t>+ 10%(</a:t>
            </a:r>
            <a:r>
              <a:rPr lang="zh-CN" altLang="zh-CN" sz="2400" dirty="0"/>
              <a:t>平时进度</a:t>
            </a:r>
            <a:r>
              <a:rPr lang="en-US" altLang="zh-CN" sz="2400" dirty="0"/>
              <a:t>) + 15%</a:t>
            </a:r>
            <a:r>
              <a:rPr lang="zh-CN" altLang="zh-CN" sz="2400" dirty="0"/>
              <a:t>（报告文档）</a:t>
            </a:r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编写的程序：指题目所要求的内容。要检查功能是否完成和全面，代码是否规范，程序界面是否整洁美观，人机交互是否合理。</a:t>
            </a:r>
            <a:endParaRPr lang="en-US" altLang="zh-CN" sz="2400" dirty="0"/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上课出勤：指平时学生的迟到、早退和旷课情况。通过点名和检查上机登机表进行。</a:t>
            </a:r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平时进度：指学生是否完成每天指定的编程内容。</a:t>
            </a:r>
          </a:p>
          <a:p>
            <a:r>
              <a:rPr lang="en-US" altLang="zh-CN" sz="2400" dirty="0"/>
              <a:t>	</a:t>
            </a:r>
            <a:r>
              <a:rPr lang="zh-CN" altLang="zh-CN" sz="2400" dirty="0"/>
              <a:t>报告文档：指学生是否按要求撰写设计报告，报告内容包括：封面、目录、设计内容要求、设计步骤和原理、算法流程图、软件使用说明、心得体会、课程问题与建议、参考文献。</a:t>
            </a:r>
            <a:endParaRPr lang="en-US" altLang="zh-CN" sz="2400" dirty="0"/>
          </a:p>
        </p:txBody>
      </p:sp>
      <p:grpSp>
        <p:nvGrpSpPr>
          <p:cNvPr id="481285" name="Group 5"/>
          <p:cNvGrpSpPr>
            <a:grpSpLocks/>
          </p:cNvGrpSpPr>
          <p:nvPr/>
        </p:nvGrpSpPr>
        <p:grpSpPr bwMode="auto">
          <a:xfrm>
            <a:off x="990600" y="1219200"/>
            <a:ext cx="7558088" cy="139700"/>
            <a:chOff x="624" y="1200"/>
            <a:chExt cx="4761" cy="88"/>
          </a:xfrm>
        </p:grpSpPr>
        <p:sp>
          <p:nvSpPr>
            <p:cNvPr id="481286" name="Rectangle 6"/>
            <p:cNvSpPr>
              <a:spLocks noChangeArrowheads="1"/>
            </p:cNvSpPr>
            <p:nvPr/>
          </p:nvSpPr>
          <p:spPr bwMode="auto">
            <a:xfrm>
              <a:off x="624" y="1243"/>
              <a:ext cx="4761" cy="4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50000">
                  <a:schemeClr val="tx1">
                    <a:alpha val="87000"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287" name="Rectangle 7"/>
            <p:cNvSpPr>
              <a:spLocks noChangeArrowheads="1"/>
            </p:cNvSpPr>
            <p:nvPr/>
          </p:nvSpPr>
          <p:spPr bwMode="auto">
            <a:xfrm>
              <a:off x="1303" y="1200"/>
              <a:ext cx="3401" cy="36"/>
            </a:xfrm>
            <a:prstGeom prst="rect">
              <a:avLst/>
            </a:prstGeom>
            <a:gradFill rotWithShape="1">
              <a:gsLst>
                <a:gs pos="0">
                  <a:srgbClr val="000F1E"/>
                </a:gs>
                <a:gs pos="50000">
                  <a:srgbClr val="336699"/>
                </a:gs>
                <a:gs pos="100000">
                  <a:srgbClr val="000F1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543525"/>
      </p:ext>
    </p:extLst>
  </p:cSld>
  <p:clrMapOvr>
    <a:masterClrMapping/>
  </p:clrMapOvr>
  <p:transition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F5AFEEF-5A89-4D73-ABAF-428B59A9A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0"/>
              <a:t> </a:t>
            </a:r>
            <a:r>
              <a:rPr lang="zh-CN" altLang="en-US"/>
              <a:t>阶段项目简介</a:t>
            </a:r>
          </a:p>
        </p:txBody>
      </p:sp>
      <p:sp>
        <p:nvSpPr>
          <p:cNvPr id="6147" name="Rectangle 8">
            <a:extLst>
              <a:ext uri="{FF2B5EF4-FFF2-40B4-BE49-F238E27FC236}">
                <a16:creationId xmlns:a16="http://schemas.microsoft.com/office/drawing/2014/main" id="{7C66C431-ADE9-4536-9ED8-BE5E95B72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920038" cy="2879725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任务：简易</a:t>
            </a:r>
            <a:r>
              <a:rPr lang="en-US" altLang="zh-CN" dirty="0"/>
              <a:t>QQ </a:t>
            </a:r>
            <a:r>
              <a:rPr lang="zh-CN" altLang="en-US" dirty="0"/>
              <a:t>聊天工具</a:t>
            </a:r>
          </a:p>
          <a:p>
            <a:pPr eaLnBrk="1" hangingPunct="1"/>
            <a:r>
              <a:rPr lang="zh-CN" altLang="en-US" dirty="0"/>
              <a:t>系统结构：</a:t>
            </a:r>
            <a:r>
              <a:rPr lang="en-US" altLang="zh-CN" dirty="0"/>
              <a:t>C/S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/>
            <a:r>
              <a:rPr lang="zh-CN" altLang="en-US" dirty="0"/>
              <a:t>小组形式完成</a:t>
            </a:r>
          </a:p>
          <a:p>
            <a:pPr eaLnBrk="1" hangingPunct="1"/>
            <a:r>
              <a:rPr lang="zh-CN" altLang="en-US" dirty="0"/>
              <a:t>学时：</a:t>
            </a:r>
            <a:r>
              <a:rPr lang="en-US" altLang="zh-CN" dirty="0"/>
              <a:t>24</a:t>
            </a:r>
            <a:r>
              <a:rPr lang="zh-CN" altLang="en-US" dirty="0"/>
              <a:t>学时</a:t>
            </a:r>
          </a:p>
        </p:txBody>
      </p:sp>
    </p:spTree>
    <p:extLst>
      <p:ext uri="{BB962C8B-B14F-4D97-AF65-F5344CB8AC3E}">
        <p14:creationId xmlns:p14="http://schemas.microsoft.com/office/powerpoint/2010/main" val="298395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DBD3518-4B12-47AE-B566-23301F8E8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软件开发流程</a:t>
            </a:r>
          </a:p>
        </p:txBody>
      </p:sp>
      <p:pic>
        <p:nvPicPr>
          <p:cNvPr id="2571268" name="Picture 4" descr="MPj01828150000[1]">
            <a:extLst>
              <a:ext uri="{FF2B5EF4-FFF2-40B4-BE49-F238E27FC236}">
                <a16:creationId xmlns:a16="http://schemas.microsoft.com/office/drawing/2014/main" id="{7AC1D5FE-5178-4A58-A162-A21490107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76413"/>
            <a:ext cx="3527425" cy="237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71269" name="Rectangle 5">
            <a:extLst>
              <a:ext uri="{FF2B5EF4-FFF2-40B4-BE49-F238E27FC236}">
                <a16:creationId xmlns:a16="http://schemas.microsoft.com/office/drawing/2014/main" id="{309A85FB-63E7-4514-BC7A-72AB06CDB5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00563" y="1341438"/>
            <a:ext cx="4038600" cy="576262"/>
          </a:xfrm>
          <a:noFill/>
        </p:spPr>
        <p:txBody>
          <a:bodyPr/>
          <a:lstStyle/>
          <a:p>
            <a:pPr>
              <a:buBlip>
                <a:blip r:embed="rId4"/>
              </a:buBlip>
            </a:pPr>
            <a:r>
              <a:rPr kumimoji="1" lang="zh-CN" altLang="en-US" sz="2400" b="1" dirty="0">
                <a:latin typeface="Arial" panose="020B0604020202020204" pitchFamily="34" charset="0"/>
                <a:ea typeface="黑体" panose="02010609060101010101" pitchFamily="49" charset="-122"/>
              </a:rPr>
              <a:t>比尔盖子是一名建筑工人</a:t>
            </a:r>
          </a:p>
        </p:txBody>
      </p:sp>
      <p:sp>
        <p:nvSpPr>
          <p:cNvPr id="2571270" name="Rectangle 6">
            <a:extLst>
              <a:ext uri="{FF2B5EF4-FFF2-40B4-BE49-F238E27FC236}">
                <a16:creationId xmlns:a16="http://schemas.microsoft.com/office/drawing/2014/main" id="{71F1AB28-277A-474C-8FE1-7AA1DC00D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2349500"/>
            <a:ext cx="403860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4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起初只干一些比较简单的建筑工作</a:t>
            </a:r>
          </a:p>
        </p:txBody>
      </p:sp>
      <p:sp>
        <p:nvSpPr>
          <p:cNvPr id="2571272" name="Rectangle 8">
            <a:extLst>
              <a:ext uri="{FF2B5EF4-FFF2-40B4-BE49-F238E27FC236}">
                <a16:creationId xmlns:a16="http://schemas.microsoft.com/office/drawing/2014/main" id="{21AC2180-A182-4AEA-9C99-2B589A6DD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3357563"/>
            <a:ext cx="457358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4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凭个人技术和经验，不需要特别设计，可以顺利完成</a:t>
            </a:r>
          </a:p>
        </p:txBody>
      </p:sp>
      <p:sp>
        <p:nvSpPr>
          <p:cNvPr id="2571273" name="Rectangle 9">
            <a:extLst>
              <a:ext uri="{FF2B5EF4-FFF2-40B4-BE49-F238E27FC236}">
                <a16:creationId xmlns:a16="http://schemas.microsoft.com/office/drawing/2014/main" id="{ABEF49B2-255A-4CA9-9C5D-58CE1BCCC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868863"/>
            <a:ext cx="4573588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4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如同编写早期比较小的程序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7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7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71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7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7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1269" grpId="0" build="p"/>
      <p:bldP spid="257127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8DE1AE0-D0B9-4A63-AF1E-542346AC2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软件开发流程</a:t>
            </a:r>
          </a:p>
        </p:txBody>
      </p:sp>
      <p:pic>
        <p:nvPicPr>
          <p:cNvPr id="2598916" name="Picture 4" descr="MPj01828170000[1]">
            <a:extLst>
              <a:ext uri="{FF2B5EF4-FFF2-40B4-BE49-F238E27FC236}">
                <a16:creationId xmlns:a16="http://schemas.microsoft.com/office/drawing/2014/main" id="{58E3AC81-18B6-4FCB-AEA6-C648D1FF0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031" y="1125538"/>
            <a:ext cx="36576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98917" name="Rectangle 5">
            <a:extLst>
              <a:ext uri="{FF2B5EF4-FFF2-40B4-BE49-F238E27FC236}">
                <a16:creationId xmlns:a16="http://schemas.microsoft.com/office/drawing/2014/main" id="{297D9B29-68C4-4997-B481-B194CED88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84313"/>
            <a:ext cx="4038600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新任务：建造一间非常美丽而完整的房间</a:t>
            </a:r>
          </a:p>
          <a:p>
            <a:pPr eaLnBrk="1" hangingPunct="1"/>
            <a:r>
              <a:rPr lang="zh-CN" altLang="en-US"/>
              <a:t>工作变得复杂许多</a:t>
            </a:r>
          </a:p>
        </p:txBody>
      </p:sp>
      <p:sp>
        <p:nvSpPr>
          <p:cNvPr id="2598919" name="Rectangle 7">
            <a:extLst>
              <a:ext uri="{FF2B5EF4-FFF2-40B4-BE49-F238E27FC236}">
                <a16:creationId xmlns:a16="http://schemas.microsoft.com/office/drawing/2014/main" id="{7A49BE63-521A-4D31-9CCB-AE3E15C2E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193" y="4572000"/>
            <a:ext cx="4105275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像不断发展的软件，功能越来越多，越来越复杂</a:t>
            </a:r>
          </a:p>
        </p:txBody>
      </p:sp>
      <p:pic>
        <p:nvPicPr>
          <p:cNvPr id="2598920" name="Picture 8" descr="房间3">
            <a:extLst>
              <a:ext uri="{FF2B5EF4-FFF2-40B4-BE49-F238E27FC236}">
                <a16:creationId xmlns:a16="http://schemas.microsoft.com/office/drawing/2014/main" id="{B7666C05-649D-4D98-AEAE-744AD223B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481388"/>
            <a:ext cx="374491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9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98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9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98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98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8917" grpId="0" uiExpand="1" build="p"/>
      <p:bldP spid="25989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C04BEBE-9778-46B7-8CD0-EE7274215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软件开发流程</a:t>
            </a:r>
          </a:p>
        </p:txBody>
      </p:sp>
      <p:sp>
        <p:nvSpPr>
          <p:cNvPr id="2599940" name="Rectangle 4">
            <a:extLst>
              <a:ext uri="{FF2B5EF4-FFF2-40B4-BE49-F238E27FC236}">
                <a16:creationId xmlns:a16="http://schemas.microsoft.com/office/drawing/2014/main" id="{2063795F-812A-4AEC-86DB-58DBD168D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0525" y="1600200"/>
            <a:ext cx="4257675" cy="35814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软件复杂性</a:t>
            </a:r>
          </a:p>
          <a:p>
            <a:pPr lvl="1" eaLnBrk="1" hangingPunct="1"/>
            <a:r>
              <a:rPr lang="zh-CN" altLang="en-US" dirty="0"/>
              <a:t>图形用户界面</a:t>
            </a:r>
          </a:p>
          <a:p>
            <a:pPr lvl="1" eaLnBrk="1" hangingPunct="1"/>
            <a:r>
              <a:rPr lang="zh-CN" altLang="en-US" dirty="0"/>
              <a:t>客户</a:t>
            </a:r>
            <a:r>
              <a:rPr lang="en-US" altLang="zh-CN" dirty="0"/>
              <a:t>/</a:t>
            </a:r>
            <a:r>
              <a:rPr lang="zh-CN" altLang="en-US" dirty="0"/>
              <a:t>服务器结构</a:t>
            </a:r>
          </a:p>
          <a:p>
            <a:pPr lvl="1" eaLnBrk="1" hangingPunct="1"/>
            <a:r>
              <a:rPr lang="zh-CN" altLang="en-US" dirty="0"/>
              <a:t>分布式应用</a:t>
            </a:r>
          </a:p>
          <a:p>
            <a:pPr lvl="1" eaLnBrk="1" hangingPunct="1"/>
            <a:r>
              <a:rPr lang="zh-CN" altLang="en-US" dirty="0"/>
              <a:t>数据通信</a:t>
            </a:r>
          </a:p>
          <a:p>
            <a:pPr lvl="1" eaLnBrk="1" hangingPunct="1"/>
            <a:r>
              <a:rPr lang="zh-CN" altLang="en-US" dirty="0"/>
              <a:t>超大型关系型数据库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  <p:pic>
        <p:nvPicPr>
          <p:cNvPr id="2599942" name="Picture 6" descr="皱眉小">
            <a:extLst>
              <a:ext uri="{FF2B5EF4-FFF2-40B4-BE49-F238E27FC236}">
                <a16:creationId xmlns:a16="http://schemas.microsoft.com/office/drawing/2014/main" id="{2DC05F54-BF05-4D74-B564-7BE93993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341438"/>
            <a:ext cx="2360612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9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9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9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9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9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9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9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994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9E2C6AE-9D73-4484-846A-22A16DD84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软件项目团队中的角色</a:t>
            </a:r>
          </a:p>
        </p:txBody>
      </p:sp>
      <p:sp>
        <p:nvSpPr>
          <p:cNvPr id="2601989" name="AutoShape 5">
            <a:extLst>
              <a:ext uri="{FF2B5EF4-FFF2-40B4-BE49-F238E27FC236}">
                <a16:creationId xmlns:a16="http://schemas.microsoft.com/office/drawing/2014/main" id="{46CA89CD-738E-4808-8957-4ACCA3E5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565400"/>
            <a:ext cx="3814763" cy="528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ea typeface="黑体" panose="02010609060101010101" pitchFamily="49" charset="-122"/>
              </a:rPr>
              <a:t>项目经理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2601990" name="AutoShape 6">
            <a:extLst>
              <a:ext uri="{FF2B5EF4-FFF2-40B4-BE49-F238E27FC236}">
                <a16:creationId xmlns:a16="http://schemas.microsoft.com/office/drawing/2014/main" id="{1D788B2A-B064-4E5E-89AB-345074A83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081338"/>
            <a:ext cx="3816350" cy="528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ea typeface="黑体" panose="02010609060101010101" pitchFamily="49" charset="-122"/>
              </a:rPr>
              <a:t>技术负责人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2601993" name="AutoShape 9">
            <a:extLst>
              <a:ext uri="{FF2B5EF4-FFF2-40B4-BE49-F238E27FC236}">
                <a16:creationId xmlns:a16="http://schemas.microsoft.com/office/drawing/2014/main" id="{F805AF4C-982F-4BD9-A671-8E4CC301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584575"/>
            <a:ext cx="3816350" cy="528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ea typeface="黑体" panose="02010609060101010101" pitchFamily="49" charset="-122"/>
              </a:rPr>
              <a:t>软件架构师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2601995" name="AutoShape 11">
            <a:extLst>
              <a:ext uri="{FF2B5EF4-FFF2-40B4-BE49-F238E27FC236}">
                <a16:creationId xmlns:a16="http://schemas.microsoft.com/office/drawing/2014/main" id="{3A764F78-1CA2-4C3A-B878-817DB42A16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39975" y="1341438"/>
            <a:ext cx="4537075" cy="7921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 dirty="0">
                <a:ea typeface="黑体" panose="02010609060101010101" pitchFamily="49" charset="-122"/>
              </a:rPr>
              <a:t>项目团队 </a:t>
            </a:r>
            <a:endParaRPr lang="en-US" altLang="zh-CN" b="1" dirty="0">
              <a:ea typeface="黑体" panose="02010609060101010101" pitchFamily="49" charset="-122"/>
            </a:endParaRPr>
          </a:p>
        </p:txBody>
      </p:sp>
      <p:cxnSp>
        <p:nvCxnSpPr>
          <p:cNvPr id="2601996" name="AutoShape 12">
            <a:extLst>
              <a:ext uri="{FF2B5EF4-FFF2-40B4-BE49-F238E27FC236}">
                <a16:creationId xmlns:a16="http://schemas.microsoft.com/office/drawing/2014/main" id="{2D677FF4-AE78-4171-BFDB-C77F0A0FB44C}"/>
              </a:ext>
            </a:extLst>
          </p:cNvPr>
          <p:cNvCxnSpPr>
            <a:cxnSpLocks noChangeShapeType="1"/>
            <a:endCxn id="2601989" idx="0"/>
          </p:cNvCxnSpPr>
          <p:nvPr/>
        </p:nvCxnSpPr>
        <p:spPr bwMode="auto">
          <a:xfrm>
            <a:off x="4679950" y="2133600"/>
            <a:ext cx="0" cy="431800"/>
          </a:xfrm>
          <a:prstGeom prst="straightConnector1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01988" name="AutoShape 4">
            <a:extLst>
              <a:ext uri="{FF2B5EF4-FFF2-40B4-BE49-F238E27FC236}">
                <a16:creationId xmlns:a16="http://schemas.microsoft.com/office/drawing/2014/main" id="{6C42A5F3-820F-490F-A2DF-E133C4983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89400"/>
            <a:ext cx="3816350" cy="5286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分析师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1992" name="AutoShape 8">
            <a:extLst>
              <a:ext uri="{FF2B5EF4-FFF2-40B4-BE49-F238E27FC236}">
                <a16:creationId xmlns:a16="http://schemas.microsoft.com/office/drawing/2014/main" id="{D1693EA1-60D6-4421-8236-741759543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592638"/>
            <a:ext cx="3816350" cy="528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设计人员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1991" name="AutoShape 7">
            <a:extLst>
              <a:ext uri="{FF2B5EF4-FFF2-40B4-BE49-F238E27FC236}">
                <a16:creationId xmlns:a16="http://schemas.microsoft.com/office/drawing/2014/main" id="{C53EF08A-89AD-4648-8389-AB4347AE5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084763"/>
            <a:ext cx="3816350" cy="528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开发人员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1994" name="AutoShape 10">
            <a:extLst>
              <a:ext uri="{FF2B5EF4-FFF2-40B4-BE49-F238E27FC236}">
                <a16:creationId xmlns:a16="http://schemas.microsoft.com/office/drawing/2014/main" id="{27F4F9B1-7299-436C-AECA-23BCCD1C0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589588"/>
            <a:ext cx="3816350" cy="5286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>
                <a:ea typeface="黑体" panose="02010609060101010101" pitchFamily="49" charset="-122"/>
              </a:rPr>
              <a:t>测试人员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60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0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0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0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0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0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0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0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989" grpId="0" animBg="1"/>
      <p:bldP spid="2601990" grpId="0" animBg="1"/>
      <p:bldP spid="2601993" grpId="0" animBg="1"/>
      <p:bldP spid="2601995" grpId="0" animBg="1"/>
      <p:bldP spid="2601988" grpId="0" animBg="1"/>
      <p:bldP spid="2601992" grpId="0" animBg="1"/>
      <p:bldP spid="2601991" grpId="0" animBg="1"/>
      <p:bldP spid="260199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981ADC6-6CBF-4FCC-A861-E1F0938B2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项目人员构成比例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B0648C23-9EEE-4B0B-826B-7E786D701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783513" cy="4752975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例子：</a:t>
            </a:r>
          </a:p>
          <a:p>
            <a:pPr eaLnBrk="1" hangingPunct="1"/>
            <a:r>
              <a:rPr lang="zh-CN" altLang="en-US" sz="2400" dirty="0"/>
              <a:t>微软 </a:t>
            </a:r>
            <a:r>
              <a:rPr lang="en-US" altLang="zh-CN" sz="2400" dirty="0"/>
              <a:t>EXCHANGE 2000 SERVER </a:t>
            </a:r>
            <a:r>
              <a:rPr lang="zh-CN" altLang="en-US" sz="2400" dirty="0"/>
              <a:t>的开发：</a:t>
            </a:r>
          </a:p>
          <a:p>
            <a:pPr lvl="1" eaLnBrk="1" hangingPunct="1"/>
            <a:r>
              <a:rPr lang="zh-CN" altLang="en-US" sz="2400" dirty="0"/>
              <a:t>项目经理：</a:t>
            </a:r>
            <a:r>
              <a:rPr lang="en-US" altLang="zh-CN" sz="2400" dirty="0"/>
              <a:t>25</a:t>
            </a:r>
            <a:r>
              <a:rPr lang="zh-CN" altLang="en-US" sz="2400" dirty="0"/>
              <a:t>人</a:t>
            </a:r>
          </a:p>
          <a:p>
            <a:pPr lvl="1" eaLnBrk="1" hangingPunct="1"/>
            <a:r>
              <a:rPr lang="zh-CN" altLang="en-US" sz="2400" dirty="0"/>
              <a:t>开发人员：</a:t>
            </a:r>
            <a:r>
              <a:rPr lang="en-US" altLang="zh-CN" sz="2400" dirty="0"/>
              <a:t>140</a:t>
            </a:r>
            <a:r>
              <a:rPr lang="zh-CN" altLang="en-US" sz="2400" dirty="0"/>
              <a:t>人</a:t>
            </a:r>
          </a:p>
          <a:p>
            <a:pPr lvl="1" eaLnBrk="1" hangingPunct="1"/>
            <a:r>
              <a:rPr lang="zh-CN" altLang="en-US" sz="2400" dirty="0"/>
              <a:t>测试人员：</a:t>
            </a:r>
            <a:r>
              <a:rPr lang="en-US" altLang="zh-CN" sz="2400" dirty="0"/>
              <a:t>350</a:t>
            </a:r>
            <a:r>
              <a:rPr lang="zh-CN" altLang="en-US" sz="2400" dirty="0"/>
              <a:t>人</a:t>
            </a:r>
          </a:p>
          <a:p>
            <a:pPr eaLnBrk="1" hangingPunct="1"/>
            <a:r>
              <a:rPr lang="en-US" altLang="zh-CN" sz="2400" dirty="0"/>
              <a:t>WINDOWS 2000</a:t>
            </a:r>
            <a:r>
              <a:rPr lang="zh-CN" altLang="en-US" sz="2400" dirty="0"/>
              <a:t>：</a:t>
            </a:r>
          </a:p>
          <a:p>
            <a:pPr lvl="1" eaLnBrk="1" hangingPunct="1"/>
            <a:r>
              <a:rPr lang="zh-CN" altLang="en-US" sz="2400" dirty="0"/>
              <a:t>项目经理：</a:t>
            </a:r>
            <a:r>
              <a:rPr lang="en-US" altLang="zh-CN" sz="2400" dirty="0"/>
              <a:t>250</a:t>
            </a:r>
            <a:r>
              <a:rPr lang="zh-CN" altLang="en-US" sz="2400" dirty="0"/>
              <a:t>人</a:t>
            </a:r>
          </a:p>
          <a:p>
            <a:pPr lvl="1" eaLnBrk="1" hangingPunct="1"/>
            <a:r>
              <a:rPr lang="zh-CN" altLang="en-US" sz="2400" dirty="0"/>
              <a:t>开发人员：</a:t>
            </a:r>
            <a:r>
              <a:rPr lang="en-US" altLang="zh-CN" sz="2400" dirty="0"/>
              <a:t>1700</a:t>
            </a:r>
            <a:r>
              <a:rPr lang="zh-CN" altLang="en-US" sz="2400" dirty="0"/>
              <a:t>人</a:t>
            </a:r>
          </a:p>
          <a:p>
            <a:pPr lvl="1" eaLnBrk="1" hangingPunct="1"/>
            <a:r>
              <a:rPr lang="zh-CN" altLang="en-US" sz="2400" dirty="0"/>
              <a:t>测试人员：</a:t>
            </a:r>
            <a:r>
              <a:rPr lang="en-US" altLang="zh-CN" sz="2400" dirty="0"/>
              <a:t>3200</a:t>
            </a:r>
            <a:r>
              <a:rPr lang="zh-CN" altLang="en-US" sz="2400" dirty="0"/>
              <a:t>人</a:t>
            </a:r>
          </a:p>
          <a:p>
            <a:pPr eaLnBrk="1" hangingPunct="1"/>
            <a:endParaRPr lang="en-US" altLang="zh-CN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D98E7A2-D982-4AD4-8CD6-AEFCFCC76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软件工程师的工作</a:t>
            </a:r>
          </a:p>
        </p:txBody>
      </p:sp>
      <p:sp>
        <p:nvSpPr>
          <p:cNvPr id="2604036" name="Rectangle 4">
            <a:extLst>
              <a:ext uri="{FF2B5EF4-FFF2-40B4-BE49-F238E27FC236}">
                <a16:creationId xmlns:a16="http://schemas.microsoft.com/office/drawing/2014/main" id="{153C71E5-E594-4691-BDE0-280591D65EA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17563" y="1816100"/>
            <a:ext cx="3671887" cy="3600450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项目设计与分析</a:t>
            </a:r>
          </a:p>
          <a:p>
            <a:pPr eaLnBrk="1" hangingPunct="1"/>
            <a:r>
              <a:rPr lang="zh-CN" altLang="en-US"/>
              <a:t>编码</a:t>
            </a:r>
          </a:p>
          <a:p>
            <a:pPr eaLnBrk="1" hangingPunct="1"/>
            <a:r>
              <a:rPr lang="zh-CN" altLang="en-US"/>
              <a:t>编写文档</a:t>
            </a:r>
          </a:p>
          <a:p>
            <a:pPr eaLnBrk="1" hangingPunct="1"/>
            <a:r>
              <a:rPr lang="zh-CN" altLang="en-US"/>
              <a:t>测试</a:t>
            </a:r>
          </a:p>
          <a:p>
            <a:pPr eaLnBrk="1" hangingPunct="1"/>
            <a:r>
              <a:rPr lang="zh-CN" altLang="en-US"/>
              <a:t>团队管理</a:t>
            </a:r>
          </a:p>
        </p:txBody>
      </p:sp>
      <p:pic>
        <p:nvPicPr>
          <p:cNvPr id="2604037" name="Picture 5" descr="团队xiaozu ">
            <a:extLst>
              <a:ext uri="{FF2B5EF4-FFF2-40B4-BE49-F238E27FC236}">
                <a16:creationId xmlns:a16="http://schemas.microsoft.com/office/drawing/2014/main" id="{605E62EA-F4D4-46FE-968A-F38C9BF8B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700213"/>
            <a:ext cx="3095625" cy="277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0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0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0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0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0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0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403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5321F92-9BB3-4B84-8342-2554033AE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软件工程师的素质 </a:t>
            </a:r>
          </a:p>
        </p:txBody>
      </p:sp>
      <p:pic>
        <p:nvPicPr>
          <p:cNvPr id="19459" name="Picture 12" descr="软件工程师">
            <a:extLst>
              <a:ext uri="{FF2B5EF4-FFF2-40B4-BE49-F238E27FC236}">
                <a16:creationId xmlns:a16="http://schemas.microsoft.com/office/drawing/2014/main" id="{E7881019-A020-46A6-8622-E14AAF26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916113"/>
            <a:ext cx="22987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5070" name="AutoShape 14">
            <a:extLst>
              <a:ext uri="{FF2B5EF4-FFF2-40B4-BE49-F238E27FC236}">
                <a16:creationId xmlns:a16="http://schemas.microsoft.com/office/drawing/2014/main" id="{5A5FDA3F-7E59-4703-9A8E-FA55D6331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779588"/>
            <a:ext cx="2736850" cy="1001125"/>
          </a:xfrm>
          <a:prstGeom prst="wedgeRoundRectCallout">
            <a:avLst>
              <a:gd name="adj1" fmla="val 63343"/>
              <a:gd name="adj2" fmla="val 8464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400" b="1">
                <a:ea typeface="黑体" panose="02010609060101010101" pitchFamily="49" charset="-122"/>
              </a:rPr>
              <a:t>良好的编码能力</a:t>
            </a:r>
            <a:endParaRPr lang="zh-CN" altLang="en-US" sz="2400" b="1">
              <a:ea typeface="黑体" panose="02010609060101010101" pitchFamily="49" charset="-122"/>
            </a:endParaRPr>
          </a:p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规范化编码习惯</a:t>
            </a:r>
          </a:p>
        </p:txBody>
      </p:sp>
      <p:sp>
        <p:nvSpPr>
          <p:cNvPr id="2605072" name="AutoShape 16">
            <a:extLst>
              <a:ext uri="{FF2B5EF4-FFF2-40B4-BE49-F238E27FC236}">
                <a16:creationId xmlns:a16="http://schemas.microsoft.com/office/drawing/2014/main" id="{CD82F33D-2B15-4BFB-83EB-879E803F4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803775"/>
            <a:ext cx="2305050" cy="1001125"/>
          </a:xfrm>
          <a:prstGeom prst="wedgeRoundRectCallout">
            <a:avLst>
              <a:gd name="adj1" fmla="val 58403"/>
              <a:gd name="adj2" fmla="val -119819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规范意识</a:t>
            </a:r>
          </a:p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团队精神 </a:t>
            </a:r>
          </a:p>
        </p:txBody>
      </p:sp>
      <p:sp>
        <p:nvSpPr>
          <p:cNvPr id="2605073" name="AutoShape 17">
            <a:extLst>
              <a:ext uri="{FF2B5EF4-FFF2-40B4-BE49-F238E27FC236}">
                <a16:creationId xmlns:a16="http://schemas.microsoft.com/office/drawing/2014/main" id="{1314DF25-B5D1-42B9-B5B6-D0C312901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68575"/>
            <a:ext cx="3167063" cy="510778"/>
          </a:xfrm>
          <a:prstGeom prst="wedgeRoundRectCallout">
            <a:avLst>
              <a:gd name="adj1" fmla="val -64083"/>
              <a:gd name="adj2" fmla="val 17884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具有软件工程的概念 </a:t>
            </a:r>
          </a:p>
        </p:txBody>
      </p:sp>
      <p:sp>
        <p:nvSpPr>
          <p:cNvPr id="2605074" name="AutoShape 18">
            <a:extLst>
              <a:ext uri="{FF2B5EF4-FFF2-40B4-BE49-F238E27FC236}">
                <a16:creationId xmlns:a16="http://schemas.microsoft.com/office/drawing/2014/main" id="{0E373892-C6A5-4E04-93D2-D8D1456E9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587875"/>
            <a:ext cx="3095625" cy="1001125"/>
          </a:xfrm>
          <a:prstGeom prst="wedgeRoundRectCallout">
            <a:avLst>
              <a:gd name="adj1" fmla="val -60051"/>
              <a:gd name="adj2" fmla="val -8250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求知欲、进取心</a:t>
            </a:r>
          </a:p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和学习总结的能力</a:t>
            </a:r>
          </a:p>
        </p:txBody>
      </p:sp>
      <p:sp>
        <p:nvSpPr>
          <p:cNvPr id="2605075" name="AutoShape 19">
            <a:extLst>
              <a:ext uri="{FF2B5EF4-FFF2-40B4-BE49-F238E27FC236}">
                <a16:creationId xmlns:a16="http://schemas.microsoft.com/office/drawing/2014/main" id="{ABBFA13C-342A-4AEF-A81D-3A0B807B4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839788"/>
            <a:ext cx="3454400" cy="510778"/>
          </a:xfrm>
          <a:prstGeom prst="wedgeRoundRectCallout">
            <a:avLst>
              <a:gd name="adj1" fmla="val -37500"/>
              <a:gd name="adj2" fmla="val 19679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团队组织和管理能力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0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0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0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0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5070" grpId="0" animBg="1"/>
      <p:bldP spid="2605072" grpId="0" animBg="1"/>
      <p:bldP spid="2605073" grpId="0" animBg="1"/>
      <p:bldP spid="2605074" grpId="0" animBg="1"/>
      <p:bldP spid="26050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F17B37-EFCC-4D5E-8B2C-79C5BF3EB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软件开发过程</a:t>
            </a:r>
          </a:p>
        </p:txBody>
      </p:sp>
      <p:pic>
        <p:nvPicPr>
          <p:cNvPr id="2606084" name="Picture 4" descr="MPj01828190000[1]">
            <a:extLst>
              <a:ext uri="{FF2B5EF4-FFF2-40B4-BE49-F238E27FC236}">
                <a16:creationId xmlns:a16="http://schemas.microsoft.com/office/drawing/2014/main" id="{2B6E87EB-BF50-4EE3-8EE0-A19582ED6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771650"/>
            <a:ext cx="41052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6085" name="Rectangle 5">
            <a:extLst>
              <a:ext uri="{FF2B5EF4-FFF2-40B4-BE49-F238E27FC236}">
                <a16:creationId xmlns:a16="http://schemas.microsoft.com/office/drawing/2014/main" id="{ACCCB1A8-A01D-466B-A1F0-826EEE9A9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3457575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“</a:t>
            </a:r>
            <a:r>
              <a:rPr lang="zh-CN" altLang="en-US"/>
              <a:t>这次不能盲目开工，我们需要首先好好设计一下！”</a:t>
            </a:r>
          </a:p>
          <a:p>
            <a:pPr eaLnBrk="1" hangingPunct="1"/>
            <a:r>
              <a:rPr lang="zh-CN" altLang="en-US"/>
              <a:t>构想</a:t>
            </a:r>
          </a:p>
          <a:p>
            <a:pPr eaLnBrk="1" hangingPunct="1"/>
            <a:r>
              <a:rPr lang="zh-CN" altLang="en-US"/>
              <a:t>分析</a:t>
            </a:r>
          </a:p>
          <a:p>
            <a:pPr eaLnBrk="1" hangingPunct="1"/>
            <a:r>
              <a:rPr lang="zh-CN" altLang="en-US"/>
              <a:t>设计</a:t>
            </a:r>
          </a:p>
          <a:p>
            <a:pPr eaLnBrk="1" hangingPunct="1"/>
            <a:r>
              <a:rPr lang="zh-CN" altLang="en-US"/>
              <a:t>构造</a:t>
            </a:r>
          </a:p>
          <a:p>
            <a:pPr eaLnBrk="1" hangingPunct="1"/>
            <a:r>
              <a:rPr lang="zh-CN" altLang="en-US"/>
              <a:t>评估</a:t>
            </a:r>
          </a:p>
        </p:txBody>
      </p:sp>
      <p:sp>
        <p:nvSpPr>
          <p:cNvPr id="2606086" name="Rectangle 6">
            <a:extLst>
              <a:ext uri="{FF2B5EF4-FFF2-40B4-BE49-F238E27FC236}">
                <a16:creationId xmlns:a16="http://schemas.microsoft.com/office/drawing/2014/main" id="{69E85EA2-8180-4323-ABAC-6708C7FC9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300663"/>
            <a:ext cx="482441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软件的制作过程也非常相似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0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0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0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0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0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0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0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06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6085" grpId="0" uiExpand="1" build="p"/>
      <p:bldP spid="260608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E6C0F3C-1945-4242-B947-1904872AF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软件开发过程</a:t>
            </a:r>
          </a:p>
        </p:txBody>
      </p:sp>
      <p:sp>
        <p:nvSpPr>
          <p:cNvPr id="2607108" name="AutoShape 4">
            <a:extLst>
              <a:ext uri="{FF2B5EF4-FFF2-40B4-BE49-F238E27FC236}">
                <a16:creationId xmlns:a16="http://schemas.microsoft.com/office/drawing/2014/main" id="{57A0C791-251E-48A2-8386-1186BDD943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87900" y="1484313"/>
            <a:ext cx="3168650" cy="6111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ea typeface="黑体" panose="02010609060101010101" pitchFamily="49" charset="-122"/>
              </a:rPr>
              <a:t>软件开发</a:t>
            </a:r>
          </a:p>
        </p:txBody>
      </p:sp>
      <p:sp>
        <p:nvSpPr>
          <p:cNvPr id="2607109" name="AutoShape 5">
            <a:extLst>
              <a:ext uri="{FF2B5EF4-FFF2-40B4-BE49-F238E27FC236}">
                <a16:creationId xmlns:a16="http://schemas.microsoft.com/office/drawing/2014/main" id="{8C6162A1-A24E-49A2-A8E1-942472C80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2333625"/>
            <a:ext cx="2335212" cy="919401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可行性研究与计划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7110" name="AutoShape 6">
            <a:extLst>
              <a:ext uri="{FF2B5EF4-FFF2-40B4-BE49-F238E27FC236}">
                <a16:creationId xmlns:a16="http://schemas.microsoft.com/office/drawing/2014/main" id="{726ABE1C-EF2F-40FB-806E-77810F94A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2981325"/>
            <a:ext cx="23352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需求分析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7111" name="AutoShape 7">
            <a:extLst>
              <a:ext uri="{FF2B5EF4-FFF2-40B4-BE49-F238E27FC236}">
                <a16:creationId xmlns:a16="http://schemas.microsoft.com/office/drawing/2014/main" id="{727B53E8-D4D8-413C-AEE1-D1C9CEBD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3630613"/>
            <a:ext cx="2333625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设计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7112" name="AutoShape 8">
            <a:extLst>
              <a:ext uri="{FF2B5EF4-FFF2-40B4-BE49-F238E27FC236}">
                <a16:creationId xmlns:a16="http://schemas.microsoft.com/office/drawing/2014/main" id="{714029D3-FBB9-4BEC-984A-F810AF052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278313"/>
            <a:ext cx="23352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开发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7113" name="AutoShape 9">
            <a:extLst>
              <a:ext uri="{FF2B5EF4-FFF2-40B4-BE49-F238E27FC236}">
                <a16:creationId xmlns:a16="http://schemas.microsoft.com/office/drawing/2014/main" id="{EE4FF46E-884C-43A3-83DA-D6BADC20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997450"/>
            <a:ext cx="23352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评估</a:t>
            </a:r>
            <a:r>
              <a:rPr lang="en-US" altLang="zh-CN" sz="2400" b="1">
                <a:ea typeface="黑体" panose="02010609060101010101" pitchFamily="49" charset="-122"/>
              </a:rPr>
              <a:t>/</a:t>
            </a:r>
            <a:r>
              <a:rPr lang="zh-CN" altLang="en-US" sz="2400" b="1">
                <a:ea typeface="黑体" panose="02010609060101010101" pitchFamily="49" charset="-122"/>
              </a:rPr>
              <a:t>测试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7114" name="AutoShape 10">
            <a:extLst>
              <a:ext uri="{FF2B5EF4-FFF2-40B4-BE49-F238E27FC236}">
                <a16:creationId xmlns:a16="http://schemas.microsoft.com/office/drawing/2014/main" id="{BF769D70-1958-4EC5-9FC8-84A7AE1EB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5759450"/>
            <a:ext cx="239236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维护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2607115" name="AutoShape 11">
            <a:extLst>
              <a:ext uri="{FF2B5EF4-FFF2-40B4-BE49-F238E27FC236}">
                <a16:creationId xmlns:a16="http://schemas.microsoft.com/office/drawing/2014/main" id="{F684A672-60D7-4B32-A571-AF6B2D3DCC89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0113" y="1484313"/>
            <a:ext cx="3311525" cy="6111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="1">
                <a:ea typeface="黑体" panose="02010609060101010101" pitchFamily="49" charset="-122"/>
              </a:rPr>
              <a:t>建造房屋</a:t>
            </a:r>
          </a:p>
        </p:txBody>
      </p:sp>
      <p:sp>
        <p:nvSpPr>
          <p:cNvPr id="2607116" name="AutoShape 12">
            <a:extLst>
              <a:ext uri="{FF2B5EF4-FFF2-40B4-BE49-F238E27FC236}">
                <a16:creationId xmlns:a16="http://schemas.microsoft.com/office/drawing/2014/main" id="{13EDDE1B-FF77-41CB-9BE6-2425C064E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333625"/>
            <a:ext cx="21193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构想</a:t>
            </a:r>
          </a:p>
        </p:txBody>
      </p:sp>
      <p:sp>
        <p:nvSpPr>
          <p:cNvPr id="2607117" name="AutoShape 13">
            <a:extLst>
              <a:ext uri="{FF2B5EF4-FFF2-40B4-BE49-F238E27FC236}">
                <a16:creationId xmlns:a16="http://schemas.microsoft.com/office/drawing/2014/main" id="{855A0EC2-EB07-4445-A196-89F5933C2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981325"/>
            <a:ext cx="21193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分析</a:t>
            </a:r>
          </a:p>
        </p:txBody>
      </p:sp>
      <p:sp>
        <p:nvSpPr>
          <p:cNvPr id="2607118" name="AutoShape 14">
            <a:extLst>
              <a:ext uri="{FF2B5EF4-FFF2-40B4-BE49-F238E27FC236}">
                <a16:creationId xmlns:a16="http://schemas.microsoft.com/office/drawing/2014/main" id="{31F5960D-1E1C-4EEA-901B-F2BB63DE6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3630613"/>
            <a:ext cx="21193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2607119" name="AutoShape 15">
            <a:extLst>
              <a:ext uri="{FF2B5EF4-FFF2-40B4-BE49-F238E27FC236}">
                <a16:creationId xmlns:a16="http://schemas.microsoft.com/office/drawing/2014/main" id="{0307575A-3D57-4CB4-8829-7D8BA40A0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4278313"/>
            <a:ext cx="21193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构造</a:t>
            </a:r>
          </a:p>
        </p:txBody>
      </p:sp>
      <p:sp>
        <p:nvSpPr>
          <p:cNvPr id="2607120" name="AutoShape 16">
            <a:extLst>
              <a:ext uri="{FF2B5EF4-FFF2-40B4-BE49-F238E27FC236}">
                <a16:creationId xmlns:a16="http://schemas.microsoft.com/office/drawing/2014/main" id="{30ECF39C-1869-4E91-B7F2-D972BD54F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4926013"/>
            <a:ext cx="2119312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评估</a:t>
            </a:r>
          </a:p>
        </p:txBody>
      </p:sp>
      <p:sp>
        <p:nvSpPr>
          <p:cNvPr id="2607121" name="AutoShape 17">
            <a:extLst>
              <a:ext uri="{FF2B5EF4-FFF2-40B4-BE49-F238E27FC236}">
                <a16:creationId xmlns:a16="http://schemas.microsoft.com/office/drawing/2014/main" id="{E3EE42DA-043E-47D0-937C-350231FB7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0" y="5718175"/>
            <a:ext cx="2174875" cy="5107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黑体" panose="02010609060101010101" pitchFamily="49" charset="-122"/>
              </a:rPr>
              <a:t>维护 </a:t>
            </a:r>
            <a:endParaRPr lang="en-US" altLang="zh-CN" sz="2400" b="1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0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60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0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0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0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0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0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0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0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0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0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0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0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7108" grpId="0" animBg="1"/>
      <p:bldP spid="2607109" grpId="0" animBg="1"/>
      <p:bldP spid="2607110" grpId="0" animBg="1"/>
      <p:bldP spid="2607111" grpId="0" animBg="1"/>
      <p:bldP spid="2607112" grpId="0" animBg="1"/>
      <p:bldP spid="2607113" grpId="0" animBg="1"/>
      <p:bldP spid="2607114" grpId="0" animBg="1"/>
      <p:bldP spid="2607115" grpId="0" animBg="1"/>
      <p:bldP spid="2607116" grpId="0" animBg="1"/>
      <p:bldP spid="2607117" grpId="0" animBg="1"/>
      <p:bldP spid="2607118" grpId="0" animBg="1"/>
      <p:bldP spid="2607119" grpId="0" animBg="1"/>
      <p:bldP spid="2607120" grpId="0" animBg="1"/>
      <p:bldP spid="26071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34C0053-4B49-4615-A5CA-CFE2A3195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瀑布模型</a:t>
            </a:r>
          </a:p>
        </p:txBody>
      </p:sp>
      <p:sp>
        <p:nvSpPr>
          <p:cNvPr id="2609156" name="Rectangle 4">
            <a:extLst>
              <a:ext uri="{FF2B5EF4-FFF2-40B4-BE49-F238E27FC236}">
                <a16:creationId xmlns:a16="http://schemas.microsoft.com/office/drawing/2014/main" id="{FD67AD3F-36D1-4C48-AE56-4E8D9C556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229600" cy="3816350"/>
          </a:xfrm>
          <a:noFill/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rgbClr val="0000CC"/>
                </a:solidFill>
              </a:rPr>
              <a:t>瀑布模型</a:t>
            </a:r>
            <a:r>
              <a:rPr lang="en-US" altLang="zh-CN" sz="2400" dirty="0">
                <a:solidFill>
                  <a:srgbClr val="0000CC"/>
                </a:solidFill>
              </a:rPr>
              <a:t>—— “</a:t>
            </a:r>
            <a:r>
              <a:rPr lang="zh-CN" altLang="en-US" sz="2400" dirty="0">
                <a:solidFill>
                  <a:srgbClr val="0000CC"/>
                </a:solidFill>
              </a:rPr>
              <a:t>线性顺序模型”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eaLnBrk="1" hangingPunct="1"/>
            <a:r>
              <a:rPr lang="zh-CN" altLang="en-US" sz="2400" dirty="0"/>
              <a:t>将每个阶段都清楚定义了起止点</a:t>
            </a:r>
          </a:p>
          <a:p>
            <a:pPr eaLnBrk="1" hangingPunct="1"/>
            <a:r>
              <a:rPr lang="zh-CN" altLang="en-US" sz="2400" dirty="0"/>
              <a:t>产生明确的交付成果</a:t>
            </a:r>
          </a:p>
          <a:p>
            <a:pPr eaLnBrk="1" hangingPunct="1"/>
            <a:r>
              <a:rPr lang="zh-CN" altLang="en-US" sz="2400" dirty="0"/>
              <a:t>阶段之间通过文档进行沟通</a:t>
            </a:r>
          </a:p>
          <a:p>
            <a:pPr eaLnBrk="1" hangingPunct="1"/>
            <a:r>
              <a:rPr lang="zh-CN" altLang="en-US" sz="2400" dirty="0"/>
              <a:t>每个阶段都必需完成全部规定的任务（文档）后才能够进入下一个阶段 </a:t>
            </a:r>
          </a:p>
        </p:txBody>
      </p:sp>
      <p:sp>
        <p:nvSpPr>
          <p:cNvPr id="2609157" name="AutoShape 5">
            <a:extLst>
              <a:ext uri="{FF2B5EF4-FFF2-40B4-BE49-F238E27FC236}">
                <a16:creationId xmlns:a16="http://schemas.microsoft.com/office/drawing/2014/main" id="{F09C71E6-0823-48E1-9B77-5BACD049963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4800" y="1447800"/>
            <a:ext cx="2209800" cy="9112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可行性研究与计划 </a:t>
            </a:r>
            <a:endParaRPr lang="en-US" altLang="zh-CN" sz="2000" b="1">
              <a:ea typeface="黑体" panose="02010609060101010101" pitchFamily="49" charset="-122"/>
            </a:endParaRPr>
          </a:p>
        </p:txBody>
      </p:sp>
      <p:sp>
        <p:nvSpPr>
          <p:cNvPr id="2609158" name="AutoShape 6">
            <a:extLst>
              <a:ext uri="{FF2B5EF4-FFF2-40B4-BE49-F238E27FC236}">
                <a16:creationId xmlns:a16="http://schemas.microsoft.com/office/drawing/2014/main" id="{0AB807D3-ED0F-406B-B2DA-658883FA75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76400" y="2667000"/>
            <a:ext cx="1727200" cy="508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需求分析 </a:t>
            </a:r>
            <a:endParaRPr lang="en-US" altLang="zh-CN" sz="2000" b="1">
              <a:ea typeface="黑体" panose="02010609060101010101" pitchFamily="49" charset="-122"/>
            </a:endParaRPr>
          </a:p>
        </p:txBody>
      </p:sp>
      <p:sp>
        <p:nvSpPr>
          <p:cNvPr id="2609159" name="AutoShape 7">
            <a:extLst>
              <a:ext uri="{FF2B5EF4-FFF2-40B4-BE49-F238E27FC236}">
                <a16:creationId xmlns:a16="http://schemas.microsoft.com/office/drawing/2014/main" id="{8B3AE898-0D3A-46BA-9983-14EEF62B0D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48000" y="3505200"/>
            <a:ext cx="1262063" cy="508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设计 </a:t>
            </a:r>
            <a:endParaRPr lang="en-US" altLang="zh-CN" sz="2000" b="1">
              <a:ea typeface="黑体" panose="02010609060101010101" pitchFamily="49" charset="-122"/>
            </a:endParaRPr>
          </a:p>
        </p:txBody>
      </p:sp>
      <p:cxnSp>
        <p:nvCxnSpPr>
          <p:cNvPr id="2609160" name="AutoShape 8">
            <a:extLst>
              <a:ext uri="{FF2B5EF4-FFF2-40B4-BE49-F238E27FC236}">
                <a16:creationId xmlns:a16="http://schemas.microsoft.com/office/drawing/2014/main" id="{44C59962-3CBA-4957-BBF8-7C0E0BBC3E3F}"/>
              </a:ext>
            </a:extLst>
          </p:cNvPr>
          <p:cNvCxnSpPr>
            <a:cxnSpLocks noChangeShapeType="1"/>
            <a:stCxn id="2609157" idx="2"/>
            <a:endCxn id="2609158" idx="1"/>
          </p:cNvCxnSpPr>
          <p:nvPr/>
        </p:nvCxnSpPr>
        <p:spPr bwMode="auto">
          <a:xfrm rot="16200000" flipH="1">
            <a:off x="1262062" y="2506663"/>
            <a:ext cx="561975" cy="2667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09161" name="AutoShape 9">
            <a:extLst>
              <a:ext uri="{FF2B5EF4-FFF2-40B4-BE49-F238E27FC236}">
                <a16:creationId xmlns:a16="http://schemas.microsoft.com/office/drawing/2014/main" id="{1D40CC49-F1FA-4306-855C-5FD168FAFA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14800" y="4267200"/>
            <a:ext cx="1320800" cy="508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开发 </a:t>
            </a:r>
            <a:endParaRPr lang="en-US" altLang="zh-CN" sz="2000" b="1">
              <a:ea typeface="黑体" panose="02010609060101010101" pitchFamily="49" charset="-122"/>
            </a:endParaRPr>
          </a:p>
        </p:txBody>
      </p:sp>
      <p:cxnSp>
        <p:nvCxnSpPr>
          <p:cNvPr id="2609162" name="AutoShape 10">
            <a:extLst>
              <a:ext uri="{FF2B5EF4-FFF2-40B4-BE49-F238E27FC236}">
                <a16:creationId xmlns:a16="http://schemas.microsoft.com/office/drawing/2014/main" id="{D7773E00-5473-4AE0-8884-D1DD1602F7B9}"/>
              </a:ext>
            </a:extLst>
          </p:cNvPr>
          <p:cNvCxnSpPr>
            <a:cxnSpLocks noChangeShapeType="1"/>
            <a:stCxn id="2609159" idx="2"/>
            <a:endCxn id="2609161" idx="1"/>
          </p:cNvCxnSpPr>
          <p:nvPr/>
        </p:nvCxnSpPr>
        <p:spPr bwMode="auto">
          <a:xfrm rot="16200000" flipH="1">
            <a:off x="3643313" y="4049712"/>
            <a:ext cx="508000" cy="434975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09163" name="AutoShape 11">
            <a:extLst>
              <a:ext uri="{FF2B5EF4-FFF2-40B4-BE49-F238E27FC236}">
                <a16:creationId xmlns:a16="http://schemas.microsoft.com/office/drawing/2014/main" id="{F4806C46-658C-4C28-8576-26862D02DE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10200" y="5105400"/>
            <a:ext cx="1258888" cy="508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测试 </a:t>
            </a:r>
            <a:endParaRPr lang="en-US" altLang="zh-CN" sz="2000" b="1">
              <a:ea typeface="黑体" panose="02010609060101010101" pitchFamily="49" charset="-122"/>
            </a:endParaRPr>
          </a:p>
        </p:txBody>
      </p:sp>
      <p:cxnSp>
        <p:nvCxnSpPr>
          <p:cNvPr id="2609164" name="AutoShape 12">
            <a:extLst>
              <a:ext uri="{FF2B5EF4-FFF2-40B4-BE49-F238E27FC236}">
                <a16:creationId xmlns:a16="http://schemas.microsoft.com/office/drawing/2014/main" id="{C679D5B5-76F9-4DEA-965B-C998E5B92BE8}"/>
              </a:ext>
            </a:extLst>
          </p:cNvPr>
          <p:cNvCxnSpPr>
            <a:cxnSpLocks noChangeShapeType="1"/>
            <a:stCxn id="2609161" idx="2"/>
            <a:endCxn id="2609163" idx="1"/>
          </p:cNvCxnSpPr>
          <p:nvPr/>
        </p:nvCxnSpPr>
        <p:spPr bwMode="auto">
          <a:xfrm rot="16200000" flipH="1">
            <a:off x="4800600" y="4749800"/>
            <a:ext cx="584200" cy="6350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09165" name="AutoShape 13">
            <a:extLst>
              <a:ext uri="{FF2B5EF4-FFF2-40B4-BE49-F238E27FC236}">
                <a16:creationId xmlns:a16="http://schemas.microsoft.com/office/drawing/2014/main" id="{7FE0665E-369A-419F-9A8E-C1C25D98638E}"/>
              </a:ext>
            </a:extLst>
          </p:cNvPr>
          <p:cNvCxnSpPr>
            <a:cxnSpLocks noChangeShapeType="1"/>
            <a:stCxn id="2609163" idx="2"/>
            <a:endCxn id="2609167" idx="1"/>
          </p:cNvCxnSpPr>
          <p:nvPr/>
        </p:nvCxnSpPr>
        <p:spPr bwMode="auto">
          <a:xfrm rot="16200000" flipH="1">
            <a:off x="6080919" y="5572919"/>
            <a:ext cx="431800" cy="512762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09166" name="AutoShape 14">
            <a:extLst>
              <a:ext uri="{FF2B5EF4-FFF2-40B4-BE49-F238E27FC236}">
                <a16:creationId xmlns:a16="http://schemas.microsoft.com/office/drawing/2014/main" id="{2964F28A-819C-47D2-A72F-7288EDEAB471}"/>
              </a:ext>
            </a:extLst>
          </p:cNvPr>
          <p:cNvCxnSpPr>
            <a:cxnSpLocks noChangeShapeType="1"/>
            <a:stCxn id="2609158" idx="2"/>
            <a:endCxn id="2609159" idx="1"/>
          </p:cNvCxnSpPr>
          <p:nvPr/>
        </p:nvCxnSpPr>
        <p:spPr bwMode="auto">
          <a:xfrm rot="16200000" flipH="1">
            <a:off x="2501900" y="3213100"/>
            <a:ext cx="584200" cy="50800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09167" name="AutoShape 15">
            <a:extLst>
              <a:ext uri="{FF2B5EF4-FFF2-40B4-BE49-F238E27FC236}">
                <a16:creationId xmlns:a16="http://schemas.microsoft.com/office/drawing/2014/main" id="{931B4EF5-7C70-4847-B059-406EC8617B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53200" y="5791200"/>
            <a:ext cx="1219200" cy="508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ea typeface="黑体" panose="02010609060101010101" pitchFamily="49" charset="-122"/>
              </a:rPr>
              <a:t>维护 </a:t>
            </a:r>
            <a:endParaRPr lang="en-US" altLang="zh-CN" sz="2000" b="1">
              <a:ea typeface="黑体" panose="02010609060101010101" pitchFamily="49" charset="-122"/>
            </a:endParaRPr>
          </a:p>
        </p:txBody>
      </p:sp>
      <p:sp>
        <p:nvSpPr>
          <p:cNvPr id="2609168" name="AutoShape 16">
            <a:extLst>
              <a:ext uri="{FF2B5EF4-FFF2-40B4-BE49-F238E27FC236}">
                <a16:creationId xmlns:a16="http://schemas.microsoft.com/office/drawing/2014/main" id="{6F3BA7B7-BD26-471E-B66C-4EF41C97C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1684338"/>
            <a:ext cx="2392363" cy="44267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ea typeface="黑体" panose="02010609060101010101" pitchFamily="49" charset="-122"/>
              </a:rPr>
              <a:t>可行性研究报告</a:t>
            </a:r>
          </a:p>
        </p:txBody>
      </p:sp>
      <p:sp>
        <p:nvSpPr>
          <p:cNvPr id="2609169" name="AutoShape 17">
            <a:extLst>
              <a:ext uri="{FF2B5EF4-FFF2-40B4-BE49-F238E27FC236}">
                <a16:creationId xmlns:a16="http://schemas.microsoft.com/office/drawing/2014/main" id="{E17C6943-D820-45AC-A30C-C4D7026C9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692400"/>
            <a:ext cx="2087563" cy="44267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ea typeface="黑体" panose="02010609060101010101" pitchFamily="49" charset="-122"/>
              </a:rPr>
              <a:t>需求说明书</a:t>
            </a:r>
          </a:p>
        </p:txBody>
      </p:sp>
      <p:sp>
        <p:nvSpPr>
          <p:cNvPr id="2609170" name="AutoShape 18">
            <a:extLst>
              <a:ext uri="{FF2B5EF4-FFF2-40B4-BE49-F238E27FC236}">
                <a16:creationId xmlns:a16="http://schemas.microsoft.com/office/drawing/2014/main" id="{9A841F35-0CB2-4C9F-BCB3-C4A211849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522663"/>
            <a:ext cx="1554162" cy="44267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ea typeface="黑体" panose="02010609060101010101" pitchFamily="49" charset="-122"/>
              </a:rPr>
              <a:t>设计文档</a:t>
            </a:r>
          </a:p>
        </p:txBody>
      </p:sp>
      <p:sp>
        <p:nvSpPr>
          <p:cNvPr id="2609171" name="AutoShape 19">
            <a:extLst>
              <a:ext uri="{FF2B5EF4-FFF2-40B4-BE49-F238E27FC236}">
                <a16:creationId xmlns:a16="http://schemas.microsoft.com/office/drawing/2014/main" id="{3A55FE7B-B751-4585-BB80-60F28C02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318000"/>
            <a:ext cx="1325563" cy="44267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ea typeface="黑体" panose="02010609060101010101" pitchFamily="49" charset="-122"/>
              </a:rPr>
              <a:t>程序</a:t>
            </a:r>
          </a:p>
        </p:txBody>
      </p:sp>
      <p:sp>
        <p:nvSpPr>
          <p:cNvPr id="2609172" name="AutoShape 20">
            <a:extLst>
              <a:ext uri="{FF2B5EF4-FFF2-40B4-BE49-F238E27FC236}">
                <a16:creationId xmlns:a16="http://schemas.microsoft.com/office/drawing/2014/main" id="{26CFC43F-51A4-49ED-8C3D-880815217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388" y="5141913"/>
            <a:ext cx="1477962" cy="442674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6600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ea typeface="黑体" panose="02010609060101010101" pitchFamily="49" charset="-122"/>
              </a:rPr>
              <a:t>测试报告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" dur="indefinite"/>
                                        <p:tgtEl>
                                          <p:spTgt spid="26091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260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0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0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0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0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0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0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0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0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0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0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0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0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0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0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0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0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9156" grpId="0" autoUpdateAnimBg="0"/>
      <p:bldP spid="2609156" grpId="1"/>
      <p:bldP spid="2609157" grpId="0" animBg="1" autoUpdateAnimBg="0"/>
      <p:bldP spid="2609158" grpId="0" animBg="1" autoUpdateAnimBg="0"/>
      <p:bldP spid="2609159" grpId="0" animBg="1" autoUpdateAnimBg="0"/>
      <p:bldP spid="2609161" grpId="0" animBg="1" autoUpdateAnimBg="0"/>
      <p:bldP spid="2609163" grpId="0" animBg="1" autoUpdateAnimBg="0"/>
      <p:bldP spid="2609167" grpId="0" animBg="1" autoUpdateAnimBg="0"/>
      <p:bldP spid="2609168" grpId="0" animBg="1"/>
      <p:bldP spid="2609169" grpId="0" animBg="1"/>
      <p:bldP spid="2609170" grpId="0" animBg="1"/>
      <p:bldP spid="2609171" grpId="0" animBg="1"/>
      <p:bldP spid="260917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959BDAC-3CBB-4A2B-AB36-D573BC703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可行性研究与计划阶段 </a:t>
            </a:r>
            <a:endParaRPr lang="en-US" altLang="zh-CN"/>
          </a:p>
        </p:txBody>
      </p:sp>
      <p:sp>
        <p:nvSpPr>
          <p:cNvPr id="2612227" name="Rectangle 3">
            <a:extLst>
              <a:ext uri="{FF2B5EF4-FFF2-40B4-BE49-F238E27FC236}">
                <a16:creationId xmlns:a16="http://schemas.microsoft.com/office/drawing/2014/main" id="{D6E9A454-8783-4FC1-8281-762142FFC6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1711325"/>
            <a:ext cx="7391400" cy="4114800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黑体" panose="02010609060101010101" pitchFamily="49" charset="-122"/>
              </a:rPr>
              <a:t>确定项目目的</a:t>
            </a:r>
          </a:p>
          <a:p>
            <a:pPr algn="just" eaLnBrk="1" hangingPunct="1"/>
            <a:r>
              <a:rPr lang="zh-CN" altLang="en-US">
                <a:latin typeface="黑体" panose="02010609060101010101" pitchFamily="49" charset="-122"/>
              </a:rPr>
              <a:t>了解系统中客户的期望</a:t>
            </a:r>
          </a:p>
          <a:p>
            <a:pPr algn="just" eaLnBrk="1" hangingPunct="1"/>
            <a:r>
              <a:rPr lang="zh-CN" altLang="en-US">
                <a:latin typeface="黑体" panose="02010609060101010101" pitchFamily="49" charset="-122"/>
              </a:rPr>
              <a:t>确定系统的规模</a:t>
            </a:r>
          </a:p>
          <a:p>
            <a:pPr algn="just" eaLnBrk="1" hangingPunct="1"/>
            <a:r>
              <a:rPr lang="zh-CN" altLang="en-US">
                <a:latin typeface="黑体" panose="02010609060101010101" pitchFamily="49" charset="-122"/>
              </a:rPr>
              <a:t>论证项目可行性</a:t>
            </a:r>
          </a:p>
          <a:p>
            <a:pPr lvl="1" eaLnBrk="1" hangingPunct="1"/>
            <a:r>
              <a:rPr lang="zh-CN" altLang="en-US">
                <a:latin typeface="黑体" panose="02010609060101010101" pitchFamily="49" charset="-122"/>
              </a:rPr>
              <a:t>技术可行性 </a:t>
            </a:r>
          </a:p>
          <a:p>
            <a:pPr lvl="1" eaLnBrk="1" hangingPunct="1"/>
            <a:r>
              <a:rPr lang="zh-CN" altLang="en-US">
                <a:latin typeface="黑体" panose="02010609060101010101" pitchFamily="49" charset="-122"/>
              </a:rPr>
              <a:t>经济可行性 </a:t>
            </a:r>
          </a:p>
          <a:p>
            <a:pPr lvl="1" eaLnBrk="1" hangingPunct="1"/>
            <a:r>
              <a:rPr lang="zh-CN" altLang="en-US">
                <a:latin typeface="黑体" panose="02010609060101010101" pitchFamily="49" charset="-122"/>
              </a:rPr>
              <a:t>操作可行性</a:t>
            </a:r>
          </a:p>
          <a:p>
            <a:pPr lvl="1" eaLnBrk="1" hangingPunct="1"/>
            <a:r>
              <a:rPr lang="zh-CN" altLang="en-US">
                <a:latin typeface="黑体" panose="02010609060101010101" pitchFamily="49" charset="-122"/>
              </a:rPr>
              <a:t>社会可行性</a:t>
            </a:r>
          </a:p>
          <a:p>
            <a:pPr eaLnBrk="1" hangingPunct="1"/>
            <a:endParaRPr lang="en-US" altLang="zh-CN">
              <a:latin typeface="黑体" panose="02010609060101010101" pitchFamily="49" charset="-122"/>
            </a:endParaRPr>
          </a:p>
          <a:p>
            <a:pPr eaLnBrk="1" hangingPunct="1"/>
            <a:endParaRPr lang="en-US" altLang="zh-CN">
              <a:latin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1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22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ACADA3C-4578-4807-878F-B988FA1FE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需求分析阶段</a:t>
            </a:r>
          </a:p>
        </p:txBody>
      </p:sp>
      <p:pic>
        <p:nvPicPr>
          <p:cNvPr id="29699" name="Picture 3" descr="需求误解">
            <a:extLst>
              <a:ext uri="{FF2B5EF4-FFF2-40B4-BE49-F238E27FC236}">
                <a16:creationId xmlns:a16="http://schemas.microsoft.com/office/drawing/2014/main" id="{B90662FB-110F-400E-B3EC-C2805FFB9A67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969963"/>
            <a:ext cx="8229600" cy="5888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AD17411-768D-4FF5-8573-F3EDDB46E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阶段项目需求描述及效果展示</a:t>
            </a:r>
          </a:p>
        </p:txBody>
      </p:sp>
      <p:pic>
        <p:nvPicPr>
          <p:cNvPr id="2573316" name="Picture 4" descr="图1">
            <a:extLst>
              <a:ext uri="{FF2B5EF4-FFF2-40B4-BE49-F238E27FC236}">
                <a16:creationId xmlns:a16="http://schemas.microsoft.com/office/drawing/2014/main" id="{2A5C3978-53FD-4F48-8635-247C2BB83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196975"/>
            <a:ext cx="4032250" cy="397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5">
            <a:extLst>
              <a:ext uri="{FF2B5EF4-FFF2-40B4-BE49-F238E27FC236}">
                <a16:creationId xmlns:a16="http://schemas.microsoft.com/office/drawing/2014/main" id="{00A650A9-A82D-4F6F-B086-BE77BB9A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4608513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4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用户注册</a:t>
            </a:r>
          </a:p>
          <a:p>
            <a:pPr eaLnBrk="1" hangingPunct="1"/>
            <a:r>
              <a:rPr lang="zh-CN" altLang="en-US" dirty="0"/>
              <a:t>用户登录</a:t>
            </a:r>
          </a:p>
          <a:p>
            <a:pPr eaLnBrk="1" hangingPunct="1"/>
            <a:r>
              <a:rPr lang="zh-CN" altLang="en-US" dirty="0"/>
              <a:t>个人信息编辑</a:t>
            </a:r>
          </a:p>
          <a:p>
            <a:pPr eaLnBrk="1" hangingPunct="1"/>
            <a:r>
              <a:rPr lang="zh-CN" altLang="en-US" dirty="0"/>
              <a:t>查找</a:t>
            </a:r>
            <a:r>
              <a:rPr lang="en-US" altLang="zh-CN" dirty="0"/>
              <a:t>/</a:t>
            </a:r>
            <a:r>
              <a:rPr lang="zh-CN" altLang="en-US" dirty="0"/>
              <a:t>添加好友</a:t>
            </a:r>
          </a:p>
          <a:p>
            <a:pPr eaLnBrk="1" hangingPunct="1"/>
            <a:r>
              <a:rPr lang="zh-CN" altLang="en-US" dirty="0"/>
              <a:t>好友列表</a:t>
            </a:r>
          </a:p>
          <a:p>
            <a:pPr eaLnBrk="1" hangingPunct="1"/>
            <a:r>
              <a:rPr lang="zh-CN" altLang="en-US" dirty="0"/>
              <a:t>聊天</a:t>
            </a: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FB4DEDBB-B7D2-464F-89D0-F3E98CA53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75275"/>
            <a:ext cx="648017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4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技术实现：</a:t>
            </a:r>
            <a:r>
              <a:rPr lang="en-US" altLang="zh-CN" dirty="0"/>
              <a:t>C++</a:t>
            </a:r>
            <a:r>
              <a:rPr lang="zh-CN" altLang="en-US" dirty="0"/>
              <a:t>或者</a:t>
            </a:r>
            <a:r>
              <a:rPr lang="en-US" altLang="zh-CN" dirty="0"/>
              <a:t>C#</a:t>
            </a:r>
          </a:p>
        </p:txBody>
      </p:sp>
      <p:pic>
        <p:nvPicPr>
          <p:cNvPr id="2573319" name="Picture 7" descr="图1">
            <a:extLst>
              <a:ext uri="{FF2B5EF4-FFF2-40B4-BE49-F238E27FC236}">
                <a16:creationId xmlns:a16="http://schemas.microsoft.com/office/drawing/2014/main" id="{5729BC4F-B470-4667-A4A9-D92C92BA9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916113"/>
            <a:ext cx="3384550" cy="235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1" name="Picture 9" descr="图1">
            <a:extLst>
              <a:ext uri="{FF2B5EF4-FFF2-40B4-BE49-F238E27FC236}">
                <a16:creationId xmlns:a16="http://schemas.microsoft.com/office/drawing/2014/main" id="{F87C5227-80DC-4D3C-9FCA-7D43562B2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196975"/>
            <a:ext cx="40481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0" name="Picture 8" descr="图1">
            <a:extLst>
              <a:ext uri="{FF2B5EF4-FFF2-40B4-BE49-F238E27FC236}">
                <a16:creationId xmlns:a16="http://schemas.microsoft.com/office/drawing/2014/main" id="{12A69C3B-F4EB-44EB-A0FC-9343A13F4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420938"/>
            <a:ext cx="40481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3" name="Picture 11" descr="图1">
            <a:extLst>
              <a:ext uri="{FF2B5EF4-FFF2-40B4-BE49-F238E27FC236}">
                <a16:creationId xmlns:a16="http://schemas.microsoft.com/office/drawing/2014/main" id="{E6BEDF1E-789D-4021-9888-31CD2F34E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263" y="1196975"/>
            <a:ext cx="46577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4" name="Picture 12" descr="图1">
            <a:extLst>
              <a:ext uri="{FF2B5EF4-FFF2-40B4-BE49-F238E27FC236}">
                <a16:creationId xmlns:a16="http://schemas.microsoft.com/office/drawing/2014/main" id="{044140DC-4F26-4519-8881-D768D76A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1844675"/>
            <a:ext cx="46577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2" name="Picture 10" descr="图1">
            <a:extLst>
              <a:ext uri="{FF2B5EF4-FFF2-40B4-BE49-F238E27FC236}">
                <a16:creationId xmlns:a16="http://schemas.microsoft.com/office/drawing/2014/main" id="{CD495516-65EB-4B86-BF03-F1B0F6938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2420938"/>
            <a:ext cx="46577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5" name="Picture 13" descr="图1">
            <a:extLst>
              <a:ext uri="{FF2B5EF4-FFF2-40B4-BE49-F238E27FC236}">
                <a16:creationId xmlns:a16="http://schemas.microsoft.com/office/drawing/2014/main" id="{918F8A58-AA78-4C2A-853C-BCFFBCACD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1125538"/>
            <a:ext cx="197167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3326" name="Picture 14" descr="图1">
            <a:extLst>
              <a:ext uri="{FF2B5EF4-FFF2-40B4-BE49-F238E27FC236}">
                <a16:creationId xmlns:a16="http://schemas.microsoft.com/office/drawing/2014/main" id="{14F87E00-425E-43CA-9B22-5525F525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341438"/>
            <a:ext cx="3887787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7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2573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57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500"/>
                                        <p:tgtEl>
                                          <p:spTgt spid="2573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7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57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4" dur="500"/>
                                        <p:tgtEl>
                                          <p:spTgt spid="2573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2573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57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57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57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500"/>
                                        <p:tgtEl>
                                          <p:spTgt spid="2573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500"/>
                                        <p:tgtEl>
                                          <p:spTgt spid="2573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2" dur="500"/>
                                        <p:tgtEl>
                                          <p:spTgt spid="2573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57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1" dur="500"/>
                                        <p:tgtEl>
                                          <p:spTgt spid="2573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57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B2176D8-4CAA-4852-87F6-DB31B2042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需求分析</a:t>
            </a:r>
            <a:r>
              <a:rPr lang="en-US" altLang="zh-CN" dirty="0"/>
              <a:t>——</a:t>
            </a:r>
            <a:r>
              <a:rPr lang="zh-CN" altLang="en-US" dirty="0"/>
              <a:t>数据库分析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B960DBF-3105-49AE-9262-56B633EB9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需要的数据表：</a:t>
            </a:r>
          </a:p>
          <a:p>
            <a:pPr lvl="1" eaLnBrk="1" hangingPunct="1"/>
            <a:r>
              <a:rPr lang="en-US" altLang="zh-CN" dirty="0"/>
              <a:t>Users</a:t>
            </a:r>
            <a:r>
              <a:rPr lang="zh-CN" altLang="en-US" dirty="0"/>
              <a:t>：用户表 </a:t>
            </a:r>
          </a:p>
          <a:p>
            <a:pPr lvl="1" eaLnBrk="1" hangingPunct="1"/>
            <a:r>
              <a:rPr lang="en-US" altLang="zh-CN" dirty="0"/>
              <a:t>Friends</a:t>
            </a:r>
            <a:r>
              <a:rPr lang="zh-CN" altLang="en-US" dirty="0"/>
              <a:t>：好友表 </a:t>
            </a:r>
          </a:p>
          <a:p>
            <a:pPr lvl="1" eaLnBrk="1" hangingPunct="1"/>
            <a:r>
              <a:rPr lang="en-US" altLang="zh-CN" dirty="0"/>
              <a:t>Star</a:t>
            </a:r>
            <a:r>
              <a:rPr lang="zh-CN" altLang="en-US" dirty="0"/>
              <a:t>：星座表 </a:t>
            </a:r>
          </a:p>
          <a:p>
            <a:pPr lvl="1" eaLnBrk="1" hangingPunct="1"/>
            <a:r>
              <a:rPr lang="en-US" altLang="zh-CN" dirty="0" err="1"/>
              <a:t>BloodType</a:t>
            </a:r>
            <a:r>
              <a:rPr lang="zh-CN" altLang="en-US" dirty="0"/>
              <a:t>：血型表 </a:t>
            </a:r>
          </a:p>
          <a:p>
            <a:pPr lvl="1" eaLnBrk="1" hangingPunct="1"/>
            <a:r>
              <a:rPr lang="en-US" altLang="zh-CN" dirty="0" err="1"/>
              <a:t>FriendshipPolicy</a:t>
            </a:r>
            <a:r>
              <a:rPr lang="zh-CN" altLang="en-US" dirty="0"/>
              <a:t>：好友策略表 </a:t>
            </a:r>
          </a:p>
          <a:p>
            <a:pPr lvl="1" eaLnBrk="1" hangingPunct="1"/>
            <a:r>
              <a:rPr lang="en-US" altLang="zh-CN" dirty="0"/>
              <a:t>Messages</a:t>
            </a:r>
            <a:r>
              <a:rPr lang="zh-CN" altLang="en-US" dirty="0"/>
              <a:t>：消息表 </a:t>
            </a:r>
          </a:p>
          <a:p>
            <a:pPr lvl="1" eaLnBrk="1" hangingPunct="1"/>
            <a:r>
              <a:rPr lang="en-US" altLang="zh-CN" dirty="0" err="1"/>
              <a:t>MessageType</a:t>
            </a:r>
            <a:r>
              <a:rPr lang="zh-CN" altLang="en-US" dirty="0"/>
              <a:t>：消息类型表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12C5EB7-4B32-450B-98C4-5C799BFE0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需求分析</a:t>
            </a:r>
            <a:r>
              <a:rPr lang="en-US" altLang="zh-CN"/>
              <a:t>——</a:t>
            </a:r>
            <a:r>
              <a:rPr lang="zh-CN" altLang="en-US"/>
              <a:t>功能分析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5B02A37-BA3F-4DE0-A85A-56581D04C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5975" y="1671638"/>
            <a:ext cx="6048375" cy="3168650"/>
          </a:xfrm>
        </p:spPr>
        <p:txBody>
          <a:bodyPr/>
          <a:lstStyle/>
          <a:p>
            <a:pPr eaLnBrk="1" hangingPunct="1"/>
            <a:r>
              <a:rPr lang="zh-CN" altLang="en-US"/>
              <a:t>主要功能：</a:t>
            </a:r>
          </a:p>
          <a:p>
            <a:pPr lvl="1" eaLnBrk="1" hangingPunct="1"/>
            <a:r>
              <a:rPr lang="zh-CN" altLang="en-US"/>
              <a:t>注册与登录 </a:t>
            </a:r>
          </a:p>
          <a:p>
            <a:pPr lvl="1" eaLnBrk="1" hangingPunct="1"/>
            <a:r>
              <a:rPr lang="zh-CN" altLang="en-US"/>
              <a:t>好友管理 </a:t>
            </a:r>
          </a:p>
          <a:p>
            <a:pPr lvl="1" eaLnBrk="1" hangingPunct="1"/>
            <a:r>
              <a:rPr lang="zh-CN" altLang="en-US"/>
              <a:t>消息管理 </a:t>
            </a:r>
          </a:p>
          <a:p>
            <a:pPr lvl="1" eaLnBrk="1" hangingPunct="1"/>
            <a:r>
              <a:rPr lang="zh-CN" altLang="en-US"/>
              <a:t>个人设置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7C18195-39EE-441C-9DED-76C075A5B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需求分析</a:t>
            </a:r>
            <a:r>
              <a:rPr lang="en-US" altLang="zh-CN"/>
              <a:t>——</a:t>
            </a:r>
            <a:r>
              <a:rPr lang="zh-CN" altLang="en-US"/>
              <a:t>界面分析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0B0E80A-EBCD-4601-9D74-C6FBE58247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341438"/>
            <a:ext cx="6192837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需要的界面：</a:t>
            </a:r>
          </a:p>
          <a:p>
            <a:pPr lvl="1" eaLnBrk="1" hangingPunct="1"/>
            <a:r>
              <a:rPr lang="zh-CN" altLang="en-US" dirty="0"/>
              <a:t>注册界面 </a:t>
            </a:r>
          </a:p>
          <a:p>
            <a:pPr lvl="1" eaLnBrk="1" hangingPunct="1"/>
            <a:r>
              <a:rPr lang="zh-CN" altLang="en-US" dirty="0"/>
              <a:t>登录界面 </a:t>
            </a:r>
          </a:p>
          <a:p>
            <a:pPr lvl="1" eaLnBrk="1" hangingPunct="1"/>
            <a:r>
              <a:rPr lang="zh-CN" altLang="en-US" dirty="0"/>
              <a:t>登录后的主界面 </a:t>
            </a:r>
          </a:p>
          <a:p>
            <a:pPr lvl="1" eaLnBrk="1" hangingPunct="1"/>
            <a:r>
              <a:rPr lang="zh-CN" altLang="en-US" dirty="0"/>
              <a:t>查找</a:t>
            </a:r>
            <a:r>
              <a:rPr lang="en-US" altLang="zh-CN" dirty="0"/>
              <a:t>/</a:t>
            </a:r>
            <a:r>
              <a:rPr lang="zh-CN" altLang="en-US" dirty="0"/>
              <a:t>添加好友界面 </a:t>
            </a:r>
          </a:p>
          <a:p>
            <a:pPr lvl="1" eaLnBrk="1" hangingPunct="1"/>
            <a:r>
              <a:rPr lang="zh-CN" altLang="en-US" dirty="0"/>
              <a:t>聊天界面 </a:t>
            </a:r>
          </a:p>
          <a:p>
            <a:pPr lvl="1" eaLnBrk="1" hangingPunct="1"/>
            <a:r>
              <a:rPr lang="zh-CN" altLang="en-US" dirty="0"/>
              <a:t>系统消息界面 </a:t>
            </a:r>
          </a:p>
          <a:p>
            <a:pPr lvl="1" eaLnBrk="1" hangingPunct="1"/>
            <a:r>
              <a:rPr lang="zh-CN" altLang="en-US" dirty="0"/>
              <a:t>个人设置界面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947947C-D5CC-4562-9E61-2A0D24725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需求分析</a:t>
            </a:r>
            <a:r>
              <a:rPr lang="en-US" altLang="zh-CN"/>
              <a:t>——</a:t>
            </a:r>
            <a:r>
              <a:rPr lang="zh-CN" altLang="en-US"/>
              <a:t>辅助类分析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7FD0ED6-3CB7-451A-BC12-6D836B981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需要添加的辅助类：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自行寻找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9ED48-D31A-4893-BF92-8007A602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客户端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9A542F-42FA-4D5A-BB4B-F4BC8C304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① 点击查询按钮获取本地主机名和</a:t>
            </a:r>
            <a:r>
              <a:rPr lang="en-US" altLang="zh-CN" sz="2800" dirty="0"/>
              <a:t>IP</a:t>
            </a:r>
            <a:endParaRPr lang="zh-CN" altLang="zh-CN" sz="2800" dirty="0"/>
          </a:p>
          <a:p>
            <a:r>
              <a:rPr lang="zh-CN" altLang="zh-CN" sz="2800" dirty="0"/>
              <a:t>② 获取远程服务端端口</a:t>
            </a:r>
          </a:p>
          <a:p>
            <a:r>
              <a:rPr lang="zh-CN" altLang="zh-CN" sz="2800" dirty="0"/>
              <a:t>③ 输入远程服务端</a:t>
            </a:r>
            <a:r>
              <a:rPr lang="en-US" altLang="zh-CN" sz="2800" dirty="0"/>
              <a:t>IP</a:t>
            </a:r>
            <a:r>
              <a:rPr lang="zh-CN" altLang="zh-CN" sz="2800" dirty="0"/>
              <a:t>并连接</a:t>
            </a:r>
          </a:p>
          <a:p>
            <a:r>
              <a:rPr lang="zh-CN" altLang="zh-CN" sz="2800" dirty="0"/>
              <a:t>④ 用户能够自定义编辑发送信息并点击发送按钮发送</a:t>
            </a:r>
          </a:p>
          <a:p>
            <a:r>
              <a:rPr lang="zh-CN" altLang="zh-CN" sz="2800" dirty="0"/>
              <a:t>⑤ 用户能够接收到来自远程服务端的信息</a:t>
            </a:r>
          </a:p>
          <a:p>
            <a:r>
              <a:rPr lang="zh-CN" altLang="zh-CN" sz="2800" dirty="0"/>
              <a:t>⑥ 用户右键点击窗口可以查询软件版本</a:t>
            </a:r>
          </a:p>
          <a:p>
            <a:r>
              <a:rPr lang="zh-CN" altLang="zh-CN" sz="2800" dirty="0"/>
              <a:t>⑦ 自动建立一个文件存储聊天记录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E6EFB-6231-4AA5-B991-DBBBD5FC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B58-9F1A-44FB-8648-AD9FA5A79137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595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732E8-98DB-4F01-AD9E-0BE6F0CD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服务端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2E34D7-EAF9-47F2-8838-D344D4CE9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① 点击查询按钮获取本地主机名和</a:t>
            </a:r>
            <a:r>
              <a:rPr lang="en-US" altLang="zh-CN" sz="2800" dirty="0"/>
              <a:t>IP</a:t>
            </a:r>
            <a:endParaRPr lang="zh-CN" altLang="zh-CN" sz="2800" dirty="0"/>
          </a:p>
          <a:p>
            <a:r>
              <a:rPr lang="zh-CN" altLang="zh-CN" sz="2800" dirty="0"/>
              <a:t>② 获取远程客户端端口</a:t>
            </a:r>
          </a:p>
          <a:p>
            <a:r>
              <a:rPr lang="zh-CN" altLang="zh-CN" sz="2800" dirty="0"/>
              <a:t>③ 输入远程客户端</a:t>
            </a:r>
            <a:r>
              <a:rPr lang="en-US" altLang="zh-CN" sz="2800" dirty="0"/>
              <a:t>IP</a:t>
            </a:r>
            <a:r>
              <a:rPr lang="zh-CN" altLang="zh-CN" sz="2800" dirty="0"/>
              <a:t>并连接</a:t>
            </a:r>
          </a:p>
          <a:p>
            <a:r>
              <a:rPr lang="zh-CN" altLang="zh-CN" sz="2800" dirty="0"/>
              <a:t>④ 用户能够自定义编辑发送信息并点击发送按钮发送</a:t>
            </a:r>
          </a:p>
          <a:p>
            <a:r>
              <a:rPr lang="zh-CN" altLang="zh-CN" sz="2800" dirty="0"/>
              <a:t>⑤ 用户能够接收到来自远程客户端的信息</a:t>
            </a:r>
          </a:p>
          <a:p>
            <a:r>
              <a:rPr lang="zh-CN" altLang="zh-CN" sz="2800" dirty="0"/>
              <a:t>⑥ 用户右键点击窗口可以查询软件版本</a:t>
            </a:r>
          </a:p>
          <a:p>
            <a:r>
              <a:rPr lang="zh-CN" altLang="zh-CN" sz="2800" dirty="0"/>
              <a:t>⑦ 自动建立一个文件存储聊天记录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EB40FB-912C-489A-A931-C4F35A7B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FB58-9F1A-44FB-8648-AD9FA5A79137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3345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3">
            <a:extLst>
              <a:ext uri="{FF2B5EF4-FFF2-40B4-BE49-F238E27FC236}">
                <a16:creationId xmlns:a16="http://schemas.microsoft.com/office/drawing/2014/main" id="{4988117C-228A-47C5-890B-0B9535B616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59113" y="1052513"/>
            <a:ext cx="2952750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B563CF"/>
            </a:solidFill>
            <a:round/>
            <a:headEnd/>
            <a:tailEnd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600" b="1">
                <a:ea typeface="黑体" panose="02010609060101010101" pitchFamily="49" charset="-122"/>
              </a:rPr>
              <a:t>MyQQ </a:t>
            </a:r>
            <a:r>
              <a:rPr lang="zh-CN" altLang="en-US" sz="1600" b="1">
                <a:ea typeface="黑体" panose="02010609060101010101" pitchFamily="49" charset="-122"/>
              </a:rPr>
              <a:t>聊天工具</a:t>
            </a:r>
          </a:p>
        </p:txBody>
      </p:sp>
      <p:sp>
        <p:nvSpPr>
          <p:cNvPr id="48131" name="AutoShape 4">
            <a:extLst>
              <a:ext uri="{FF2B5EF4-FFF2-40B4-BE49-F238E27FC236}">
                <a16:creationId xmlns:a16="http://schemas.microsoft.com/office/drawing/2014/main" id="{68C0F3E9-CCCC-451B-842F-376A3DD55F6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779838" y="2133600"/>
            <a:ext cx="1439862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ea typeface="黑体" panose="02010609060101010101" pitchFamily="49" charset="-122"/>
              </a:rPr>
              <a:t>组长 </a:t>
            </a:r>
            <a:r>
              <a:rPr lang="en-US" altLang="zh-CN" sz="1600" b="1">
                <a:ea typeface="黑体" panose="02010609060101010101" pitchFamily="49" charset="-122"/>
              </a:rPr>
              <a:t>A</a:t>
            </a:r>
          </a:p>
        </p:txBody>
      </p:sp>
      <p:sp>
        <p:nvSpPr>
          <p:cNvPr id="48132" name="AutoShape 5">
            <a:extLst>
              <a:ext uri="{FF2B5EF4-FFF2-40B4-BE49-F238E27FC236}">
                <a16:creationId xmlns:a16="http://schemas.microsoft.com/office/drawing/2014/main" id="{B6360175-C1B9-48E4-8E56-7246E5E10D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2988" y="2133600"/>
            <a:ext cx="1439862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ea typeface="黑体" panose="02010609060101010101" pitchFamily="49" charset="-122"/>
              </a:rPr>
              <a:t>组员 </a:t>
            </a:r>
            <a:r>
              <a:rPr lang="en-US" altLang="zh-CN" sz="1600" b="1"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48133" name="AutoShape 6">
            <a:extLst>
              <a:ext uri="{FF2B5EF4-FFF2-40B4-BE49-F238E27FC236}">
                <a16:creationId xmlns:a16="http://schemas.microsoft.com/office/drawing/2014/main" id="{590503CE-8EBB-4501-8905-E08FD0633A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43663" y="2133600"/>
            <a:ext cx="1439862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ea typeface="黑体" panose="02010609060101010101" pitchFamily="49" charset="-122"/>
              </a:rPr>
              <a:t>组员 </a:t>
            </a:r>
            <a:r>
              <a:rPr lang="en-US" altLang="zh-CN" sz="1600" b="1"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48134" name="AutoShape 7">
            <a:extLst>
              <a:ext uri="{FF2B5EF4-FFF2-40B4-BE49-F238E27FC236}">
                <a16:creationId xmlns:a16="http://schemas.microsoft.com/office/drawing/2014/main" id="{109F0A8D-7CBA-4B16-817A-E1878CF52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213100"/>
            <a:ext cx="430212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注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册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35" name="AutoShape 8">
            <a:extLst>
              <a:ext uri="{FF2B5EF4-FFF2-40B4-BE49-F238E27FC236}">
                <a16:creationId xmlns:a16="http://schemas.microsoft.com/office/drawing/2014/main" id="{AE249B77-D22C-4168-8383-03190E47D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聊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天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36" name="AutoShape 9">
            <a:extLst>
              <a:ext uri="{FF2B5EF4-FFF2-40B4-BE49-F238E27FC236}">
                <a16:creationId xmlns:a16="http://schemas.microsoft.com/office/drawing/2014/main" id="{D951A090-8C60-408F-9EA4-93C4D9848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13100"/>
            <a:ext cx="433388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个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人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信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息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37" name="AutoShape 10">
            <a:extLst>
              <a:ext uri="{FF2B5EF4-FFF2-40B4-BE49-F238E27FC236}">
                <a16:creationId xmlns:a16="http://schemas.microsoft.com/office/drawing/2014/main" id="{83F87220-59C8-4733-B9B8-6771DB3A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登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录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后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主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38" name="AutoShape 11">
            <a:extLst>
              <a:ext uri="{FF2B5EF4-FFF2-40B4-BE49-F238E27FC236}">
                <a16:creationId xmlns:a16="http://schemas.microsoft.com/office/drawing/2014/main" id="{7B34F860-273B-435A-9379-C92DBE37D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734050"/>
            <a:ext cx="2087563" cy="3587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查找</a:t>
            </a:r>
            <a:r>
              <a:rPr lang="en-US" altLang="zh-CN" sz="1600" b="1">
                <a:ea typeface="黑体" panose="02010609060101010101" pitchFamily="49" charset="-122"/>
              </a:rPr>
              <a:t>/</a:t>
            </a:r>
            <a:r>
              <a:rPr lang="zh-CN" altLang="en-US" sz="1600" b="1">
                <a:ea typeface="黑体" panose="02010609060101010101" pitchFamily="49" charset="-122"/>
              </a:rPr>
              <a:t>添加功能编码</a:t>
            </a:r>
          </a:p>
        </p:txBody>
      </p:sp>
      <p:sp>
        <p:nvSpPr>
          <p:cNvPr id="48139" name="AutoShape 12">
            <a:extLst>
              <a:ext uri="{FF2B5EF4-FFF2-40B4-BE49-F238E27FC236}">
                <a16:creationId xmlns:a16="http://schemas.microsoft.com/office/drawing/2014/main" id="{D00FA82C-7CD7-4816-8835-808F63935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登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录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40" name="AutoShape 13">
            <a:extLst>
              <a:ext uri="{FF2B5EF4-FFF2-40B4-BE49-F238E27FC236}">
                <a16:creationId xmlns:a16="http://schemas.microsoft.com/office/drawing/2014/main" id="{2F894F13-0495-4AE0-B054-F196A7C55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头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像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表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41" name="AutoShape 14">
            <a:extLst>
              <a:ext uri="{FF2B5EF4-FFF2-40B4-BE49-F238E27FC236}">
                <a16:creationId xmlns:a16="http://schemas.microsoft.com/office/drawing/2014/main" id="{1168CB63-6981-4CE9-AAC5-43FFD6750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系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统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消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息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窗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体</a:t>
            </a:r>
          </a:p>
        </p:txBody>
      </p:sp>
      <p:sp>
        <p:nvSpPr>
          <p:cNvPr id="48142" name="AutoShape 15">
            <a:extLst>
              <a:ext uri="{FF2B5EF4-FFF2-40B4-BE49-F238E27FC236}">
                <a16:creationId xmlns:a16="http://schemas.microsoft.com/office/drawing/2014/main" id="{CC41C64F-0F44-4BD8-8931-7D6339950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查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找</a:t>
            </a:r>
          </a:p>
          <a:p>
            <a:pPr algn="ctr" eaLnBrk="1" hangingPunct="1"/>
            <a:r>
              <a:rPr lang="en-US" altLang="zh-CN" sz="1600" b="1">
                <a:ea typeface="黑体" panose="02010609060101010101" pitchFamily="49" charset="-122"/>
              </a:rPr>
              <a:t>/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添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加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好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友</a:t>
            </a:r>
          </a:p>
        </p:txBody>
      </p:sp>
      <p:sp>
        <p:nvSpPr>
          <p:cNvPr id="48143" name="AutoShape 16">
            <a:extLst>
              <a:ext uri="{FF2B5EF4-FFF2-40B4-BE49-F238E27FC236}">
                <a16:creationId xmlns:a16="http://schemas.microsoft.com/office/drawing/2014/main" id="{0452F22B-A00A-4E75-93B7-8449E64A1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734050"/>
            <a:ext cx="2303463" cy="3603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界面设计、辅助功能</a:t>
            </a:r>
          </a:p>
        </p:txBody>
      </p:sp>
      <p:sp>
        <p:nvSpPr>
          <p:cNvPr id="48144" name="AutoShape 17">
            <a:extLst>
              <a:ext uri="{FF2B5EF4-FFF2-40B4-BE49-F238E27FC236}">
                <a16:creationId xmlns:a16="http://schemas.microsoft.com/office/drawing/2014/main" id="{6954FFBC-ADF9-4E6F-AEB6-0EC99BC9B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辅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助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类</a:t>
            </a:r>
          </a:p>
        </p:txBody>
      </p:sp>
      <p:sp>
        <p:nvSpPr>
          <p:cNvPr id="48145" name="AutoShape 18">
            <a:extLst>
              <a:ext uri="{FF2B5EF4-FFF2-40B4-BE49-F238E27FC236}">
                <a16:creationId xmlns:a16="http://schemas.microsoft.com/office/drawing/2014/main" id="{61B37880-55CF-4CE2-AEFD-808F16135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213100"/>
            <a:ext cx="431800" cy="2016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99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查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找</a:t>
            </a:r>
          </a:p>
          <a:p>
            <a:pPr algn="ctr" eaLnBrk="1" hangingPunct="1"/>
            <a:r>
              <a:rPr lang="en-US" altLang="zh-CN" sz="1600" b="1">
                <a:ea typeface="黑体" panose="02010609060101010101" pitchFamily="49" charset="-122"/>
              </a:rPr>
              <a:t>/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添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加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好</a:t>
            </a:r>
          </a:p>
          <a:p>
            <a:pPr algn="ctr" eaLnBrk="1" hangingPunct="1"/>
            <a:r>
              <a:rPr lang="zh-CN" altLang="en-US" sz="1600" b="1">
                <a:ea typeface="黑体" panose="02010609060101010101" pitchFamily="49" charset="-122"/>
              </a:rPr>
              <a:t>友</a:t>
            </a:r>
          </a:p>
        </p:txBody>
      </p:sp>
      <p:sp>
        <p:nvSpPr>
          <p:cNvPr id="48146" name="Line 19">
            <a:extLst>
              <a:ext uri="{FF2B5EF4-FFF2-40B4-BE49-F238E27FC236}">
                <a16:creationId xmlns:a16="http://schemas.microsoft.com/office/drawing/2014/main" id="{CB1E63A9-E811-4681-8EFE-D8650620C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484313"/>
            <a:ext cx="0" cy="6492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47" name="Line 20">
            <a:extLst>
              <a:ext uri="{FF2B5EF4-FFF2-40B4-BE49-F238E27FC236}">
                <a16:creationId xmlns:a16="http://schemas.microsoft.com/office/drawing/2014/main" id="{2E472BC2-40EF-4B53-8D5B-D183E01B2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773238"/>
            <a:ext cx="5472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48" name="Line 21">
            <a:extLst>
              <a:ext uri="{FF2B5EF4-FFF2-40B4-BE49-F238E27FC236}">
                <a16:creationId xmlns:a16="http://schemas.microsoft.com/office/drawing/2014/main" id="{B26C2590-AD45-40DF-8F79-70B43501A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77323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49" name="Line 22">
            <a:extLst>
              <a:ext uri="{FF2B5EF4-FFF2-40B4-BE49-F238E27FC236}">
                <a16:creationId xmlns:a16="http://schemas.microsoft.com/office/drawing/2014/main" id="{D00ECDEE-198A-4359-AC16-450B270C0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5825" y="1773238"/>
            <a:ext cx="0" cy="3603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0" name="Line 23">
            <a:extLst>
              <a:ext uri="{FF2B5EF4-FFF2-40B4-BE49-F238E27FC236}">
                <a16:creationId xmlns:a16="http://schemas.microsoft.com/office/drawing/2014/main" id="{5B7F66AB-1246-4063-A87C-B5E61E46A1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2708275"/>
            <a:ext cx="288925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1" name="Line 24">
            <a:extLst>
              <a:ext uri="{FF2B5EF4-FFF2-40B4-BE49-F238E27FC236}">
                <a16:creationId xmlns:a16="http://schemas.microsoft.com/office/drawing/2014/main" id="{8A6836A5-E107-4CA0-94C9-60B67CC73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708275"/>
            <a:ext cx="21590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2" name="Line 25">
            <a:extLst>
              <a:ext uri="{FF2B5EF4-FFF2-40B4-BE49-F238E27FC236}">
                <a16:creationId xmlns:a16="http://schemas.microsoft.com/office/drawing/2014/main" id="{BED8B9D3-3A00-499C-B4AB-095616B1E7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2708275"/>
            <a:ext cx="504825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3" name="Line 26">
            <a:extLst>
              <a:ext uri="{FF2B5EF4-FFF2-40B4-BE49-F238E27FC236}">
                <a16:creationId xmlns:a16="http://schemas.microsoft.com/office/drawing/2014/main" id="{DF1F3B26-66B1-4D52-9D13-4AFC29AD19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1638" y="2708275"/>
            <a:ext cx="21590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4" name="Line 27">
            <a:extLst>
              <a:ext uri="{FF2B5EF4-FFF2-40B4-BE49-F238E27FC236}">
                <a16:creationId xmlns:a16="http://schemas.microsoft.com/office/drawing/2014/main" id="{6C33CCCB-3CD7-4735-91C8-ECB812026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2708275"/>
            <a:ext cx="144462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5" name="Line 28">
            <a:extLst>
              <a:ext uri="{FF2B5EF4-FFF2-40B4-BE49-F238E27FC236}">
                <a16:creationId xmlns:a16="http://schemas.microsoft.com/office/drawing/2014/main" id="{89AF5466-3AD4-4DF0-9F31-0243AF1E6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708275"/>
            <a:ext cx="43180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6" name="Line 29">
            <a:extLst>
              <a:ext uri="{FF2B5EF4-FFF2-40B4-BE49-F238E27FC236}">
                <a16:creationId xmlns:a16="http://schemas.microsoft.com/office/drawing/2014/main" id="{ABC6A39C-3057-461C-AC43-09731B82BB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2225" y="2708275"/>
            <a:ext cx="43180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7" name="Line 30">
            <a:extLst>
              <a:ext uri="{FF2B5EF4-FFF2-40B4-BE49-F238E27FC236}">
                <a16:creationId xmlns:a16="http://schemas.microsoft.com/office/drawing/2014/main" id="{A13A001C-0238-48E7-86D2-C6B62C3265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48488" y="2708275"/>
            <a:ext cx="144462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8" name="Line 31">
            <a:extLst>
              <a:ext uri="{FF2B5EF4-FFF2-40B4-BE49-F238E27FC236}">
                <a16:creationId xmlns:a16="http://schemas.microsoft.com/office/drawing/2014/main" id="{5E0DEAF3-469B-447C-9F21-67DD78B365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708275"/>
            <a:ext cx="21590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59" name="Line 32">
            <a:extLst>
              <a:ext uri="{FF2B5EF4-FFF2-40B4-BE49-F238E27FC236}">
                <a16:creationId xmlns:a16="http://schemas.microsoft.com/office/drawing/2014/main" id="{EDC343E1-3535-416F-8800-F60CBB111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708275"/>
            <a:ext cx="504825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60" name="Line 33">
            <a:extLst>
              <a:ext uri="{FF2B5EF4-FFF2-40B4-BE49-F238E27FC236}">
                <a16:creationId xmlns:a16="http://schemas.microsoft.com/office/drawing/2014/main" id="{28D339F2-7D90-435D-8163-880C22B7D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522922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61" name="Line 34">
            <a:extLst>
              <a:ext uri="{FF2B5EF4-FFF2-40B4-BE49-F238E27FC236}">
                <a16:creationId xmlns:a16="http://schemas.microsoft.com/office/drawing/2014/main" id="{0FB57871-3049-4B79-98AA-813BC48BB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522922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62" name="Line 35">
            <a:extLst>
              <a:ext uri="{FF2B5EF4-FFF2-40B4-BE49-F238E27FC236}">
                <a16:creationId xmlns:a16="http://schemas.microsoft.com/office/drawing/2014/main" id="{597DF54B-29F9-4E38-9073-4D033CC46C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4438" y="2420938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63" name="Line 36">
            <a:extLst>
              <a:ext uri="{FF2B5EF4-FFF2-40B4-BE49-F238E27FC236}">
                <a16:creationId xmlns:a16="http://schemas.microsoft.com/office/drawing/2014/main" id="{B378D04A-11A0-40D9-85D0-816C698EF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2420938"/>
            <a:ext cx="1223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8164" name="Text Box 37">
            <a:extLst>
              <a:ext uri="{FF2B5EF4-FFF2-40B4-BE49-F238E27FC236}">
                <a16:creationId xmlns:a16="http://schemas.microsoft.com/office/drawing/2014/main" id="{F96023A4-A41D-4187-94F0-53DBC1CBA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2054225"/>
            <a:ext cx="59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ea typeface="黑体" panose="02010609060101010101" pitchFamily="49" charset="-122"/>
              </a:rPr>
              <a:t>协助</a:t>
            </a:r>
          </a:p>
        </p:txBody>
      </p:sp>
      <p:sp>
        <p:nvSpPr>
          <p:cNvPr id="48165" name="Text Box 38">
            <a:extLst>
              <a:ext uri="{FF2B5EF4-FFF2-40B4-BE49-F238E27FC236}">
                <a16:creationId xmlns:a16="http://schemas.microsoft.com/office/drawing/2014/main" id="{34AEAC49-666E-419E-A04E-21F4110E3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060575"/>
            <a:ext cx="5982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ea typeface="黑体" panose="02010609060101010101" pitchFamily="49" charset="-122"/>
              </a:rPr>
              <a:t>协助</a:t>
            </a:r>
          </a:p>
        </p:txBody>
      </p:sp>
      <p:sp>
        <p:nvSpPr>
          <p:cNvPr id="48166" name="Rectangle 39">
            <a:extLst>
              <a:ext uri="{FF2B5EF4-FFF2-40B4-BE49-F238E27FC236}">
                <a16:creationId xmlns:a16="http://schemas.microsoft.com/office/drawing/2014/main" id="{974EF5D2-0ADB-4F1D-9449-8B8CB3BA0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小组分工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9E578EF-C805-487F-9A1A-FDEE98610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阶段划分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18BD69F-F067-44B0-BFCE-0D90C0730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052513"/>
            <a:ext cx="8229600" cy="5327650"/>
          </a:xfrm>
        </p:spPr>
        <p:txBody>
          <a:bodyPr/>
          <a:lstStyle/>
          <a:p>
            <a:pPr marL="363538" indent="-363538" eaLnBrk="1" hangingPunct="1"/>
            <a:r>
              <a:rPr lang="zh-CN" altLang="en-US" sz="2400" dirty="0"/>
              <a:t>项目准备阶段 （</a:t>
            </a:r>
            <a:r>
              <a:rPr lang="en-US" altLang="zh-CN" sz="2400" dirty="0"/>
              <a:t>2</a:t>
            </a:r>
            <a:r>
              <a:rPr lang="zh-CN" altLang="en-US" sz="2400" dirty="0"/>
              <a:t>学时）</a:t>
            </a:r>
          </a:p>
          <a:p>
            <a:pPr marL="1085850" lvl="1" indent="-457200" eaLnBrk="1" hangingPunct="1"/>
            <a:r>
              <a:rPr lang="zh-CN" altLang="en-US" sz="2400" dirty="0"/>
              <a:t>项目框架、建库、建表、提交计划</a:t>
            </a:r>
          </a:p>
          <a:p>
            <a:pPr marL="363538" indent="-363538" eaLnBrk="1" hangingPunct="1"/>
            <a:r>
              <a:rPr lang="zh-CN" altLang="en-US" sz="2400" dirty="0"/>
              <a:t>第一次集中编码 （</a:t>
            </a:r>
            <a:r>
              <a:rPr lang="en-US" altLang="zh-CN" sz="2400" dirty="0"/>
              <a:t>4</a:t>
            </a:r>
            <a:r>
              <a:rPr lang="zh-CN" altLang="en-US" sz="2400" dirty="0"/>
              <a:t>学时）</a:t>
            </a:r>
          </a:p>
          <a:p>
            <a:pPr marL="1085850" lvl="1" indent="-457200" eaLnBrk="1" hangingPunct="1"/>
            <a:r>
              <a:rPr lang="zh-CN" altLang="en-US" sz="2400" dirty="0"/>
              <a:t>注册、登录功能</a:t>
            </a:r>
          </a:p>
          <a:p>
            <a:pPr marL="363538" indent="-363538" eaLnBrk="1" hangingPunct="1"/>
            <a:r>
              <a:rPr lang="zh-CN" altLang="en-US" sz="2400" dirty="0"/>
              <a:t>第二次集中编码 （</a:t>
            </a:r>
            <a:r>
              <a:rPr lang="en-US" altLang="zh-CN" sz="2400" dirty="0"/>
              <a:t>4</a:t>
            </a:r>
            <a:r>
              <a:rPr lang="zh-CN" altLang="en-US" sz="2400" dirty="0"/>
              <a:t>学时）</a:t>
            </a:r>
          </a:p>
          <a:p>
            <a:pPr marL="1085850" lvl="1" indent="-457200" eaLnBrk="1" hangingPunct="1"/>
            <a:r>
              <a:rPr lang="zh-CN" altLang="en-US" sz="2400" dirty="0"/>
              <a:t>查找</a:t>
            </a:r>
            <a:r>
              <a:rPr lang="en-US" altLang="zh-CN" sz="2400" dirty="0"/>
              <a:t>/</a:t>
            </a:r>
            <a:r>
              <a:rPr lang="zh-CN" altLang="en-US" sz="2400" dirty="0"/>
              <a:t>添加好友、部分聊天功能</a:t>
            </a:r>
          </a:p>
          <a:p>
            <a:pPr marL="363538" indent="-363538" eaLnBrk="1" hangingPunct="1"/>
            <a:r>
              <a:rPr lang="zh-CN" altLang="en-US" sz="2400" dirty="0"/>
              <a:t>第三次集中编码 （</a:t>
            </a:r>
            <a:r>
              <a:rPr lang="en-US" altLang="zh-CN" sz="2400" dirty="0"/>
              <a:t>4</a:t>
            </a:r>
            <a:r>
              <a:rPr lang="zh-CN" altLang="en-US" sz="2400" dirty="0"/>
              <a:t>学时）</a:t>
            </a:r>
          </a:p>
          <a:p>
            <a:pPr marL="1085850" lvl="1" indent="-457200" eaLnBrk="1" hangingPunct="1"/>
            <a:r>
              <a:rPr lang="zh-CN" altLang="en-US" sz="2400" dirty="0"/>
              <a:t> 个人信息显示、完整聊天功能</a:t>
            </a:r>
          </a:p>
          <a:p>
            <a:pPr marL="363538" indent="-363538" eaLnBrk="1" hangingPunct="1"/>
            <a:r>
              <a:rPr lang="zh-CN" altLang="en-US" sz="2400" dirty="0"/>
              <a:t>第四次集中编码 （</a:t>
            </a:r>
            <a:r>
              <a:rPr lang="en-US" altLang="zh-CN" sz="2400" dirty="0"/>
              <a:t>4</a:t>
            </a:r>
            <a:r>
              <a:rPr lang="zh-CN" altLang="en-US" sz="2400" dirty="0"/>
              <a:t>学时）</a:t>
            </a:r>
          </a:p>
          <a:p>
            <a:pPr marL="1085850" lvl="1" indent="-457200" eaLnBrk="1" hangingPunct="1"/>
            <a:r>
              <a:rPr lang="zh-CN" altLang="en-US" sz="2400" dirty="0"/>
              <a:t>个人信息修改、完善整个功能</a:t>
            </a:r>
          </a:p>
          <a:p>
            <a:pPr marL="363538" indent="-363538" eaLnBrk="1" hangingPunct="1"/>
            <a:r>
              <a:rPr lang="zh-CN" altLang="en-US" sz="2400" dirty="0"/>
              <a:t>项目答辩、总结（</a:t>
            </a:r>
            <a:r>
              <a:rPr lang="en-US" altLang="zh-CN" sz="2400" dirty="0"/>
              <a:t>4</a:t>
            </a:r>
            <a:r>
              <a:rPr lang="zh-CN" altLang="en-US" sz="2400" dirty="0"/>
              <a:t>学时）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5F4B0E6-437C-4AD8-ACE5-33C8BA771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项目准备阶段：</a:t>
            </a:r>
            <a:r>
              <a:rPr lang="en-US" altLang="zh-CN"/>
              <a:t>A</a:t>
            </a:r>
            <a:r>
              <a:rPr lang="zh-CN" altLang="en-US"/>
              <a:t>任务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FBBE413-EDE0-4055-BBB8-15E08749C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229600" cy="4525962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3538" indent="-363538" eaLnBrk="1" hangingPunct="1">
              <a:spcAft>
                <a:spcPct val="20000"/>
              </a:spcAft>
            </a:pPr>
            <a:r>
              <a:rPr lang="zh-CN" altLang="en-US"/>
              <a:t>搭建项目框架</a:t>
            </a:r>
          </a:p>
          <a:p>
            <a:pPr marL="363538" indent="-363538" eaLnBrk="1" hangingPunct="1">
              <a:spcAft>
                <a:spcPct val="20000"/>
              </a:spcAft>
            </a:pPr>
            <a:r>
              <a:rPr lang="zh-CN" altLang="en-US"/>
              <a:t>提交小组计划</a:t>
            </a:r>
          </a:p>
          <a:p>
            <a:pPr marL="363538" indent="-363538" eaLnBrk="1" hangingPunct="1">
              <a:spcAft>
                <a:spcPct val="20000"/>
              </a:spcAft>
              <a:buFontTx/>
              <a:buNone/>
            </a:pPr>
            <a:r>
              <a:rPr lang="zh-CN" altLang="en-US"/>
              <a:t>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63D98D8C-2BE1-408D-8860-79AB98EE2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项目准备阶段：</a:t>
            </a:r>
            <a:r>
              <a:rPr lang="en-US" altLang="zh-CN"/>
              <a:t>B</a:t>
            </a:r>
            <a:r>
              <a:rPr lang="zh-CN" altLang="en-US"/>
              <a:t>任务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DA53800-0A97-4124-AD0B-B6C75D834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08088"/>
            <a:ext cx="3097212" cy="4525962"/>
          </a:xfrm>
        </p:spPr>
        <p:txBody>
          <a:bodyPr/>
          <a:lstStyle/>
          <a:p>
            <a:pPr eaLnBrk="1" hangingPunct="1"/>
            <a:r>
              <a:rPr lang="zh-CN" altLang="en-US"/>
              <a:t>建库</a:t>
            </a:r>
          </a:p>
          <a:p>
            <a:pPr eaLnBrk="1" hangingPunct="1"/>
            <a:r>
              <a:rPr lang="zh-CN" altLang="en-US"/>
              <a:t>建表</a:t>
            </a:r>
          </a:p>
          <a:p>
            <a:pPr lvl="1" eaLnBrk="1" hangingPunct="1"/>
            <a:r>
              <a:rPr lang="en-US" altLang="zh-CN"/>
              <a:t>Users</a:t>
            </a:r>
          </a:p>
          <a:p>
            <a:pPr lvl="1" eaLnBrk="1" hangingPunct="1"/>
            <a:r>
              <a:rPr lang="en-US" altLang="zh-CN"/>
              <a:t>Friends</a:t>
            </a:r>
          </a:p>
          <a:p>
            <a:pPr lvl="1" eaLnBrk="1" hangingPunct="1"/>
            <a:r>
              <a:rPr lang="en-US" altLang="zh-CN"/>
              <a:t>FriendShipPolicy</a:t>
            </a:r>
          </a:p>
          <a:p>
            <a:pPr eaLnBrk="1" hangingPunct="1"/>
            <a:r>
              <a:rPr lang="zh-CN" altLang="en-US"/>
              <a:t>建关系</a:t>
            </a:r>
          </a:p>
        </p:txBody>
      </p:sp>
      <p:pic>
        <p:nvPicPr>
          <p:cNvPr id="2579462" name="Picture 6" descr="图1">
            <a:extLst>
              <a:ext uri="{FF2B5EF4-FFF2-40B4-BE49-F238E27FC236}">
                <a16:creationId xmlns:a16="http://schemas.microsoft.com/office/drawing/2014/main" id="{8BEC7EBA-2999-4AC9-A774-525A7E763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484313"/>
            <a:ext cx="673417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7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EB64793-44A0-47A4-A0B5-09168A762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项目准备阶段：</a:t>
            </a:r>
            <a:r>
              <a:rPr lang="en-US" altLang="zh-CN"/>
              <a:t>C</a:t>
            </a:r>
            <a:r>
              <a:rPr lang="zh-CN" altLang="en-US"/>
              <a:t>任务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53B82267-9FCD-42BB-AFA2-96247B4D9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建表</a:t>
            </a:r>
          </a:p>
          <a:p>
            <a:pPr lvl="1" eaLnBrk="1" hangingPunct="1"/>
            <a:r>
              <a:rPr lang="en-US" altLang="zh-CN"/>
              <a:t>Star </a:t>
            </a:r>
          </a:p>
          <a:p>
            <a:pPr lvl="1" eaLnBrk="1" hangingPunct="1"/>
            <a:r>
              <a:rPr lang="en-US" altLang="zh-CN"/>
              <a:t>BloodType </a:t>
            </a:r>
          </a:p>
          <a:p>
            <a:pPr lvl="1" eaLnBrk="1" hangingPunct="1"/>
            <a:r>
              <a:rPr lang="en-US" altLang="zh-CN"/>
              <a:t>Messages </a:t>
            </a:r>
          </a:p>
          <a:p>
            <a:pPr lvl="1" eaLnBrk="1" hangingPunct="1"/>
            <a:r>
              <a:rPr lang="en-US" altLang="zh-CN"/>
              <a:t>MessageType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D100449-8724-4176-91CA-B309F444F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第一次集中编码：</a:t>
            </a:r>
            <a:r>
              <a:rPr lang="en-US" altLang="zh-CN"/>
              <a:t>A</a:t>
            </a:r>
            <a:r>
              <a:rPr lang="zh-CN" altLang="en-US"/>
              <a:t>任务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890CDC9-88AD-4445-BB4F-41AD6849C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268413"/>
            <a:ext cx="3529012" cy="1584325"/>
          </a:xfrm>
        </p:spPr>
        <p:txBody>
          <a:bodyPr/>
          <a:lstStyle/>
          <a:p>
            <a:pPr eaLnBrk="1" hangingPunct="1"/>
            <a:r>
              <a:rPr lang="zh-CN" altLang="en-US"/>
              <a:t>设计注册窗体界面</a:t>
            </a:r>
          </a:p>
          <a:p>
            <a:pPr eaLnBrk="1" hangingPunct="1"/>
            <a:r>
              <a:rPr lang="zh-CN" altLang="en-US"/>
              <a:t>实现用户注册功能</a:t>
            </a:r>
          </a:p>
        </p:txBody>
      </p:sp>
      <p:pic>
        <p:nvPicPr>
          <p:cNvPr id="2582532" name="Picture 4" descr="图1">
            <a:extLst>
              <a:ext uri="{FF2B5EF4-FFF2-40B4-BE49-F238E27FC236}">
                <a16:creationId xmlns:a16="http://schemas.microsoft.com/office/drawing/2014/main" id="{5A3D9165-59F3-46A6-8A1F-A2DA471C7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96975"/>
            <a:ext cx="373380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8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9FA4807-D69A-4915-8E2C-961355876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第一次集中编码：</a:t>
            </a:r>
            <a:r>
              <a:rPr lang="en-US" altLang="zh-CN"/>
              <a:t>B</a:t>
            </a:r>
            <a:r>
              <a:rPr lang="zh-CN" altLang="en-US"/>
              <a:t>任务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5EFD777-DA5C-49AD-A487-699B233A5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600450" cy="4525963"/>
          </a:xfrm>
        </p:spPr>
        <p:txBody>
          <a:bodyPr/>
          <a:lstStyle/>
          <a:p>
            <a:pPr eaLnBrk="1" hangingPunct="1"/>
            <a:r>
              <a:rPr lang="zh-CN" altLang="en-US"/>
              <a:t>设计登录后主窗体</a:t>
            </a:r>
          </a:p>
          <a:p>
            <a:pPr eaLnBrk="1" hangingPunct="1"/>
            <a:r>
              <a:rPr lang="zh-CN" altLang="en-US"/>
              <a:t>显示好友列表</a:t>
            </a:r>
          </a:p>
        </p:txBody>
      </p:sp>
      <p:pic>
        <p:nvPicPr>
          <p:cNvPr id="2583556" name="Picture 4" descr="图1">
            <a:extLst>
              <a:ext uri="{FF2B5EF4-FFF2-40B4-BE49-F238E27FC236}">
                <a16:creationId xmlns:a16="http://schemas.microsoft.com/office/drawing/2014/main" id="{4EE0FBA6-AD3A-4593-99E8-FE2C4E193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412875"/>
            <a:ext cx="197167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8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3F8F2EF-CDD8-4726-90F9-D8471A2FD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第一次集中编码：</a:t>
            </a:r>
            <a:r>
              <a:rPr lang="en-US" altLang="zh-CN"/>
              <a:t>C</a:t>
            </a:r>
            <a:r>
              <a:rPr lang="zh-CN" altLang="en-US"/>
              <a:t>任务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244D2E4-9CC6-401F-A103-758B86A24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2808287" cy="1079500"/>
          </a:xfrm>
        </p:spPr>
        <p:txBody>
          <a:bodyPr/>
          <a:lstStyle/>
          <a:p>
            <a:pPr eaLnBrk="1" hangingPunct="1"/>
            <a:r>
              <a:rPr lang="zh-CN" altLang="en-US"/>
              <a:t>设计登录窗体</a:t>
            </a:r>
          </a:p>
          <a:p>
            <a:pPr eaLnBrk="1" hangingPunct="1"/>
            <a:r>
              <a:rPr lang="zh-CN" altLang="en-US"/>
              <a:t>实现登录功能</a:t>
            </a:r>
          </a:p>
        </p:txBody>
      </p:sp>
      <p:pic>
        <p:nvPicPr>
          <p:cNvPr id="2584580" name="Picture 4" descr="图1">
            <a:extLst>
              <a:ext uri="{FF2B5EF4-FFF2-40B4-BE49-F238E27FC236}">
                <a16:creationId xmlns:a16="http://schemas.microsoft.com/office/drawing/2014/main" id="{0B761682-27EC-41B9-8DB4-B87CB246E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341438"/>
            <a:ext cx="3889375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8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CC3300"/>
      </a:accent2>
      <a:accent3>
        <a:srgbClr val="FFFFFF"/>
      </a:accent3>
      <a:accent4>
        <a:srgbClr val="000000"/>
      </a:accent4>
      <a:accent5>
        <a:srgbClr val="DAEDEF"/>
      </a:accent5>
      <a:accent6>
        <a:srgbClr val="B92D00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B92D00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7180</TotalTime>
  <Words>1530</Words>
  <Application>Microsoft Office PowerPoint</Application>
  <PresentationFormat>全屏显示(4:3)</PresentationFormat>
  <Paragraphs>352</Paragraphs>
  <Slides>36</Slides>
  <Notes>21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黑体</vt:lpstr>
      <vt:lpstr>华文楷体</vt:lpstr>
      <vt:lpstr>宋体</vt:lpstr>
      <vt:lpstr>Arial</vt:lpstr>
      <vt:lpstr>Times New Roman</vt:lpstr>
      <vt:lpstr>Wingdings</vt:lpstr>
      <vt:lpstr>默认设计模板</vt:lpstr>
      <vt:lpstr>PowerPoint 演示文稿</vt:lpstr>
      <vt:lpstr>联系方式与交流方式</vt:lpstr>
      <vt:lpstr>1、课程性质与教学目的</vt:lpstr>
      <vt:lpstr>2、课程教学目标</vt:lpstr>
      <vt:lpstr>3、课程内容与学时分配</vt:lpstr>
      <vt:lpstr>考核办法</vt:lpstr>
      <vt:lpstr>课程成绩构成</vt:lpstr>
      <vt:lpstr>课程成绩构成</vt:lpstr>
      <vt:lpstr> 阶段项目简介</vt:lpstr>
      <vt:lpstr>软件开发流程</vt:lpstr>
      <vt:lpstr>软件开发流程</vt:lpstr>
      <vt:lpstr>软件开发流程</vt:lpstr>
      <vt:lpstr>软件项目团队中的角色</vt:lpstr>
      <vt:lpstr>项目人员构成比例</vt:lpstr>
      <vt:lpstr>软件工程师的工作</vt:lpstr>
      <vt:lpstr>软件工程师的素质 </vt:lpstr>
      <vt:lpstr>软件开发过程</vt:lpstr>
      <vt:lpstr>软件开发过程</vt:lpstr>
      <vt:lpstr>瀑布模型</vt:lpstr>
      <vt:lpstr>可行性研究与计划阶段 </vt:lpstr>
      <vt:lpstr>需求分析阶段</vt:lpstr>
      <vt:lpstr>阶段项目需求描述及效果展示</vt:lpstr>
      <vt:lpstr>需求分析——数据库分析</vt:lpstr>
      <vt:lpstr>需求分析——功能分析</vt:lpstr>
      <vt:lpstr>需求分析——界面分析</vt:lpstr>
      <vt:lpstr>需求分析——辅助类分析</vt:lpstr>
      <vt:lpstr>客户端</vt:lpstr>
      <vt:lpstr>服务端</vt:lpstr>
      <vt:lpstr>小组分工</vt:lpstr>
      <vt:lpstr>阶段划分</vt:lpstr>
      <vt:lpstr>项目准备阶段：A任务</vt:lpstr>
      <vt:lpstr>项目准备阶段：B任务</vt:lpstr>
      <vt:lpstr>项目准备阶段：C任务</vt:lpstr>
      <vt:lpstr>第一次集中编码：A任务</vt:lpstr>
      <vt:lpstr>第一次集中编码：B任务</vt:lpstr>
      <vt:lpstr>第一次集中编码：C任务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wh</cp:lastModifiedBy>
  <cp:revision>902</cp:revision>
  <cp:lastPrinted>1601-01-01T00:00:00Z</cp:lastPrinted>
  <dcterms:created xsi:type="dcterms:W3CDTF">2011-02-14T07:08:11Z</dcterms:created>
  <dcterms:modified xsi:type="dcterms:W3CDTF">2026-07-12T13:58:55Z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